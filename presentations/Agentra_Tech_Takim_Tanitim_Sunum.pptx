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9611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 spc="300">
                <a:solidFill>
                  <a:srgbClr val="AAB0B9"/>
                </a:solidFill>
                <a:latin typeface="Segoe UI"/>
              </a:rPr>
              <a:t>TEKNOFEST 2026 · YAPAY ZEKA DİL AJANLARI YARIŞMASI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0" spc="50">
                <a:solidFill>
                  <a:srgbClr val="EAEBEE"/>
                </a:solidFill>
                <a:latin typeface="Segoe UI Semilight"/>
              </a:rPr>
              <a:t>Takım Tanıtım Sunumu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989EA8"/>
                </a:solidFill>
                <a:latin typeface="Segoe UI"/>
              </a:rPr>
              <a:t>Kamu Evrak ve Yazışma Süreçleri için Akıllı Agent Destek Sistemi · 1. Senaryo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29203" y="5138928"/>
            <a:ext cx="2066543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4 Üye · 1 Kaptan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15203" y="5138928"/>
            <a:ext cx="1664208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Kuruluş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98867" y="5138928"/>
            <a:ext cx="1563624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Açık Kaynak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61888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AAB0B9"/>
                </a:solidFill>
                <a:latin typeface="Segoe UI"/>
              </a:rPr>
              <a:t>Takım Kaptanı: Şeyma Nur Çebi</a:t>
            </a:r>
            <a:r>
              <a:rPr sz="1400" b="0">
                <a:solidFill>
                  <a:srgbClr val="989EA8"/>
                </a:solidFill>
                <a:latin typeface="Segoe UI"/>
              </a:rPr>
              <a:t>     ·   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TAKIMIMIZ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Kısaca Biz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üyesi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2549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5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8103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kaptanı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406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8383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Kuruluş yılı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631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42631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Farklı üniversite · 3 mühendislik dalı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Açık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Kaynak · Apache 2.0 · tamamı Türkçe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383280"/>
            <a:ext cx="11055096" cy="117043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383280"/>
            <a:ext cx="73152" cy="117043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29584"/>
            <a:ext cx="105156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EAEBEE"/>
                </a:solidFill>
                <a:latin typeface="Segoe UI"/>
              </a:rPr>
              <a:t>Biz </a:t>
            </a:r>
            <a:r>
              <a:rPr sz="1600" b="0">
                <a:solidFill>
                  <a:srgbClr val="C9CDD4"/>
                </a:solidFill>
                <a:latin typeface="Segoe UI Semibold"/>
              </a:rPr>
              <a:t>AGENTRA TECH</a:t>
            </a:r>
            <a:r>
              <a:rPr sz="1550" b="0">
                <a:solidFill>
                  <a:srgbClr val="EAEBEE"/>
                </a:solidFill>
                <a:latin typeface="Segoe UI"/>
              </a:rPr>
              <a:t>; TEKNOFEST 2026 için bir araya gelen, </a:t>
            </a:r>
            <a:r>
              <a:rPr sz="1550" b="0">
                <a:solidFill>
                  <a:srgbClr val="C9CDD4"/>
                </a:solidFill>
                <a:latin typeface="Segoe UI Semibold"/>
              </a:rPr>
              <a:t>Türkçe dil teknolojileri ve akıllı ajan sistemleri</a:t>
            </a:r>
            <a:r>
              <a:rPr sz="1550" b="0">
                <a:solidFill>
                  <a:srgbClr val="EAEBEE"/>
                </a:solidFill>
                <a:latin typeface="Segoe UI"/>
              </a:rPr>
              <a:t> üzerine çalışan 4 kişilik bir öğrenci takımıyız.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Adımızın merkezinde “agent” var: kararları izlenebilir, tamamen açık kaynak bir sistem geliştiriyoruz.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882896"/>
            <a:ext cx="2238451" cy="603504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3232" y="5038344"/>
            <a:ext cx="292608" cy="29260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5029200"/>
            <a:ext cx="167152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006547" y="4882896"/>
            <a:ext cx="2573121" cy="603504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152851" y="5038344"/>
            <a:ext cx="292608" cy="29260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5187" y="5029200"/>
            <a:ext cx="2006193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80836" y="4882896"/>
            <a:ext cx="1792224" cy="603504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927140" y="5038344"/>
            <a:ext cx="292608" cy="29260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9476" y="5029200"/>
            <a:ext cx="122529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Emine Elik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4228" y="4882896"/>
            <a:ext cx="1903780" cy="603504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920532" y="5038344"/>
            <a:ext cx="292608" cy="29260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2868" y="5029200"/>
            <a:ext cx="13368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Zeynep Akel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79729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Şartname m.3.1: bu sunum takımın organizasyon yapısını, ekip üyelerini ve görev dağılımını tanıtır.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KIMLIĞIMIZ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Kuruluşumuz, Amacımız ve Değerlerimiz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64208"/>
            <a:ext cx="5806440" cy="420624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64208"/>
            <a:ext cx="73152" cy="420624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47088"/>
            <a:ext cx="5349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Kuruluş &amp; 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14016"/>
            <a:ext cx="5394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Kuruluş: </a:t>
            </a:r>
            <a:r>
              <a:rPr sz="1400" b="0">
                <a:solidFill>
                  <a:srgbClr val="EAEBEE"/>
                </a:solidFill>
                <a:latin typeface="Segoe UI Semibold"/>
              </a:rPr>
              <a:t>2026</a:t>
            </a:r>
            <a:r>
              <a:rPr sz="1300" b="0">
                <a:solidFill>
                  <a:srgbClr val="989EA8"/>
                </a:solidFill>
                <a:latin typeface="Segoe UI"/>
              </a:rPr>
              <a:t>   ·   4 kişilik öğrenci takımı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Takım adı: </a:t>
            </a:r>
            <a:r>
              <a:rPr sz="1350" b="0">
                <a:solidFill>
                  <a:srgbClr val="EAEBEE"/>
                </a:solidFill>
                <a:latin typeface="Segoe UI"/>
              </a:rPr>
              <a:t>AGENTRA TECH — merkezinde “agent” (ajan) odağı vardır.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Amacımız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AEBEE"/>
                </a:solidFill>
                <a:latin typeface="Segoe UI"/>
              </a:rPr>
              <a:t>Kamu evrak ve yazışma süreçlerini okuyan, anlayan, eksiğini bulan, mevzuat öneren, resmî yazı taslaklayıp doğru birime yönlendiren; çok ajanlı, offline-first ve yerli bir yapay zekâ sistemiyle uçtan uca otomatikleştirmek.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9222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Değerlerimiz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377440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377440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3136" y="250545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Güvenilirlik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3136" y="2852928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karar bir güven skoruyla gelir.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310128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310128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343814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Şeffaflık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3785616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öneri gerekçe ve madde dayanağı taşır.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242816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4242816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3136" y="43708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Veri Koruması (KVKK)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4718304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Kişisel veri sızdırılmaz; yerli ve offline.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5175504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0" y="5175504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3136" y="53035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Dürüstlük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3136" y="565099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Ölçümler ne çıkarsa olduğu gibi raporlanır.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ORGANIZASYON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Takımı Nasıl Örgütledik?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535527" y="1627632"/>
            <a:ext cx="5120640" cy="82296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0" spc="150">
                <a:solidFill>
                  <a:srgbClr val="C9CDD4"/>
                </a:solidFill>
                <a:latin typeface="Segoe UI Semibold"/>
              </a:rPr>
              <a:t>AGENTRA TECH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4 kişilik takım · Kuruluş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4874" y="2450592"/>
            <a:ext cx="21945" cy="548639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63547" y="2999232"/>
            <a:ext cx="8461857" cy="21945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63547" y="2999232"/>
            <a:ext cx="21945" cy="42062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76851" y="2999232"/>
            <a:ext cx="21945" cy="42062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0155" y="2999232"/>
            <a:ext cx="21945" cy="42062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3459" y="2999232"/>
            <a:ext cx="21945" cy="42062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19856"/>
            <a:ext cx="2615184" cy="1920240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419856"/>
            <a:ext cx="2615184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45336" y="3639312"/>
            <a:ext cx="658368" cy="65836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9CDD4"/>
                </a:solidFill>
                <a:latin typeface="Segoe UI Semibold"/>
              </a:rPr>
              <a:t>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389120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91456"/>
            <a:ext cx="2468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İçerik Analizi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Değerlendirme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97863" y="3255264"/>
            <a:ext cx="1353312" cy="329184"/>
          </a:xfrm>
          <a:prstGeom prst="roundRect">
            <a:avLst>
              <a:gd name="adj" fmla="val 50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4151A"/>
                </a:solidFill>
                <a:latin typeface="Segoe UI Semibold"/>
              </a:rPr>
              <a:t>★ TAKIM KAPTANI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0232" y="3419856"/>
            <a:ext cx="2615184" cy="1920240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0232" y="3419856"/>
            <a:ext cx="2615184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58640" y="3639312"/>
            <a:ext cx="658368" cy="65836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9CDD4"/>
                </a:solidFill>
                <a:latin typeface="Segoe UI Semibold"/>
              </a:rPr>
              <a:t>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1672" y="4389120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3384" y="4791456"/>
            <a:ext cx="2468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Mimari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Orkestrasyon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3536" y="3419856"/>
            <a:ext cx="2615184" cy="1920240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3536" y="3419856"/>
            <a:ext cx="2615184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71944" y="3639312"/>
            <a:ext cx="658368" cy="65836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9CDD4"/>
                </a:solidFill>
                <a:latin typeface="Segoe UI Semibold"/>
              </a:rPr>
              <a:t>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4976" y="4389120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Zeynep Akel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6688" y="4791456"/>
            <a:ext cx="2468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Etkileşim · Yönlendirme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· KVKK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419856"/>
            <a:ext cx="2615184" cy="1920240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06840" y="3419856"/>
            <a:ext cx="2615184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85248" y="3639312"/>
            <a:ext cx="658368" cy="658368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9CDD4"/>
                </a:solidFill>
                <a:latin typeface="Segoe UI Semibold"/>
              </a:rPr>
              <a:t>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4389120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Emine Elik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9992" y="4791456"/>
            <a:ext cx="24688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Veri · Test ·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Doküman · Sunum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632704"/>
            <a:ext cx="11055096" cy="676656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EAEBEE"/>
                </a:solidFill>
                <a:latin typeface="Segoe UI"/>
              </a:rPr>
              <a:t>Kaptan Şeyma Nur Çebi ekibi koordine eder; kararlar ortak GitHub deposu üzerinden şeffaf yürür. Her uzmanlık alanı bir sorumluya bağlıdır.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EKIP ÜYELERI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Takım Üyeleri ve Sorumlulukları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36192"/>
            <a:ext cx="91440" cy="215798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6" y="1901952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184708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232257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Arel Üni.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3664" y="2651760"/>
            <a:ext cx="2609697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90672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Görev 1 içerik analizi: sınıflandırma, bilgi çıkarımı, mevzuat RAG; değerlendirme ve entegrasyon.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1792224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4151A"/>
                </a:solidFill>
                <a:latin typeface="Segoe UI Semibold"/>
              </a:rPr>
              <a:t>★ KAPTAN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536192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1901952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184708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232257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Bilgisayar Müh. · 3. Sınıf · Arel Üni.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651760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90672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Mimari ve orkestrasyon; model-agnostik LLM katmanı; Görev 2 taslak üretimi (OCR, özet).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4169664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4114800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Emine Elik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3664" y="4590288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Maden Müh. · 1. Sınıf · Cerrahpaşa Üni.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83664" y="4919472"/>
            <a:ext cx="2430475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358384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Veri seti ve etiketleme; test kapsamı; dokümantasyon; sunum ve demo; şartname uyumu.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37376" y="4169664"/>
            <a:ext cx="786384" cy="786384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00" b="0">
                <a:solidFill>
                  <a:srgbClr val="C9CDD4"/>
                </a:solidFill>
                <a:latin typeface="Segoe UI Semibold"/>
              </a:rPr>
              <a:t>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4114800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Zeynep Akel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4590288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Biruni Üni.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61504" y="4919472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5358384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Görev 1 eksik bilgi; Görev 2 yönlendirme ve kullanıcı etkileşimi; triyaj, KVKK; web arayüzü.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0167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4 üye · 3 üniversite · Yazılım, Bilgisayar ve Maden Mühendisliği öğrencileri.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GÖREV DAĞILIMI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Görev Dağılımımız · Şartname m.6.4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5486400" cy="4572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34086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OCR / metin okuma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8575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830068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74136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Bilgi çıkarımı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346703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9077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tespiti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40740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379976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924043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Özet oluşturma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489661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572768"/>
            <a:ext cx="5486400" cy="45720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1609344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34086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Resmî yazı taslağı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0704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8575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07040" y="283006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374136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Birim yönlendirme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3346703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5449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389077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2416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40740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talebi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4379976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4924043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Altyapı: veri · test · doküman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5600" y="4896612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Emine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4681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yetenek bir sorumluya ve gerçek bir kod modülüne bağlıdır.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ÇALIŞMA BIÇIMIMIZ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Nasıl Çalışıyoruz?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Fikir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2148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646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Geliştirme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689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06009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Test &amp; Ölçüm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1230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75550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Dürüst Rapor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0771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45091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İyileştirme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7249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Her özellik; fikirden koda, otomatik testlere ve dürüst ölçüme kadar aynı döngüden geçer.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ve İzlenebilir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Ortak GitHub deposu (Apache 2.0)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karar kayıt altında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Tüm dokümantasyon Türkçe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Sürekli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En az haftalık commit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500+ otomatik test yeşil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katkı gözden geçirilir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10144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4464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Dürüst Ölçüm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Düzenli değerlendirme ölçümü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Tutulmuş (held-out) setler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Sonuçlar olduğu gibi raporlanır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KISA PROJE TANITIMI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Ne Geliştiriyoruz?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27632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73152" cy="106070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55648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EAEBEE"/>
                </a:solidFill>
                <a:latin typeface="Segoe UI"/>
              </a:rPr>
              <a:t>Kamu kurumlarına gelen evrağı </a:t>
            </a:r>
            <a:r>
              <a:rPr sz="1550" b="0">
                <a:solidFill>
                  <a:srgbClr val="C9CDD4"/>
                </a:solidFill>
                <a:latin typeface="Segoe UI Semibold"/>
              </a:rPr>
              <a:t>okuyan · anlayan · eksiğini bulan · mevzuat öneren · taslaklayan · yönlendiren</a:t>
            </a:r>
            <a:r>
              <a:rPr sz="1550" b="0">
                <a:solidFill>
                  <a:srgbClr val="EAEBEE"/>
                </a:solidFill>
                <a:latin typeface="Segoe UI"/>
              </a:rPr>
              <a:t> çok ajanlı bir yapay zekâ sistemi.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11 uzman ajan + orkestratör · framework bağımsız saf Python · çevrimdışı-öncelikli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Girdi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646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Orkestratör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31689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6009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1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1230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5550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0771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5091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12+ Çıktı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206240"/>
            <a:ext cx="5020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1 — Sınıflandırma &amp; İçerik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773168"/>
            <a:ext cx="4965192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Metin/PDF/görüntü okuma (OCR) + tür belirleme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Bilgi çıkarımı · eksik bilgi tespiti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Mevzuat önerisi · kısa özet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393192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4206240"/>
            <a:ext cx="5020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773168"/>
            <a:ext cx="4965192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Resmî yazı taslağı (Yönetmelik uyumlu)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Gerekçeli birim yönlendirme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Kullanıcı bilgilendirme · eksik bilgi talebi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98464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Ayrıntılı teknik mimari, kod ve canlı demo final aşamasında sunulacaktır.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KANITIMIZ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Bugüne Kadar Ne Ürettik?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Çalışan sistem · CLI + web arayüzü +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9242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500</a:t>
            </a:r>
            <a:r>
              <a:rPr sz="1600" b="0">
                <a:solidFill>
                  <a:srgbClr val="C9CDD4"/>
                </a:solidFill>
                <a:latin typeface="Segoe UI Semilight"/>
              </a:rPr>
              <a:t>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8328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584448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059936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338328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3584448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Adversarial tutulmuş set · 16 evrak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059936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0,83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504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 Semibold"/>
              </a:rPr>
              <a:t>Kaynak: </a:t>
            </a:r>
            <a:r>
              <a:rPr sz="1150" b="0">
                <a:solidFill>
                  <a:srgbClr val="AAB0B9"/>
                </a:solidFill>
                <a:latin typeface="Consolas"/>
              </a:rPr>
              <a:t>eval_report*.json</a:t>
            </a:r>
            <a:r>
              <a:rPr sz="1150" b="0">
                <a:solidFill>
                  <a:srgbClr val="989EA8"/>
                </a:solidFill>
                <a:latin typeface="Segoe UI"/>
              </a:rPr>
              <a:t>  ·  tamamen çevrimdışı mod  ·  sonuçlar olduğu gibi raporlanır  ·  Apache 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NEDEN BURADAYIZ?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Katılım Motivasyonumuz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1104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Kişisel veriyi 3. taraf API'ye sızdırmadan, tamamen yerel çalışan yerli çözüm.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dil teknolojileri ekosistemine (TAKP) Apache 2.0 lisanslı katkı.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02335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645152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61104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02335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Takımın ilgisi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4645152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3913632"/>
            <a:ext cx="312724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0">
                <a:solidFill>
                  <a:srgbClr val="14151A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4151A"/>
                </a:solidFill>
                <a:latin typeface="Segoe UI"/>
              </a:rPr>
              <a:t>“Her şeyi otomatikleştiren” değil; </a:t>
            </a:r>
            <a:r>
              <a:rPr sz="1300" b="1">
                <a:solidFill>
                  <a:srgbClr val="14151A"/>
                </a:solidFill>
                <a:latin typeface="Segoe UI Semibold"/>
              </a:rPr>
              <a:t>doğru yerde insana devreden</a:t>
            </a:r>
            <a:r>
              <a:rPr sz="1300" b="0">
                <a:solidFill>
                  <a:srgbClr val="14151A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32688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spc="320">
                <a:solidFill>
                  <a:srgbClr val="AAB0B9"/>
                </a:solidFill>
                <a:latin typeface="Segoe UI"/>
              </a:rPr>
              <a:t>TEŞEKKÜRLER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Organizasyon yapısı, ekip ve görev dağılımıyla; kamuya uygun bir yapay zekâ takımı.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54683" y="4334256"/>
            <a:ext cx="2724912" cy="566928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0987" y="4480560"/>
            <a:ext cx="274320" cy="274320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66747" y="4416552"/>
            <a:ext cx="22128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Şeyma Nur Çebi</a:t>
            </a:r>
            <a:r>
              <a:rPr sz="1100" b="0">
                <a:solidFill>
                  <a:srgbClr val="989EA8"/>
                </a:solidFill>
                <a:latin typeface="Segoe UI"/>
              </a:rPr>
              <a:t>  · Kaptan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763" y="4334256"/>
            <a:ext cx="2546604" cy="566928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27067" y="4480560"/>
            <a:ext cx="274320" cy="274320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92827" y="4416552"/>
            <a:ext cx="20345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28535" y="4334256"/>
            <a:ext cx="1746504" cy="566928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74839" y="4480560"/>
            <a:ext cx="274320" cy="274320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0599" y="4416552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Emine Elik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6207" y="4334256"/>
            <a:ext cx="1860804" cy="566928"/>
          </a:xfrm>
          <a:prstGeom prst="roundRect">
            <a:avLst>
              <a:gd name="adj" fmla="val 3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22511" y="4480560"/>
            <a:ext cx="274320" cy="274320"/>
          </a:xfrm>
          <a:prstGeom prst="ellipse">
            <a:avLst/>
          </a:prstGeom>
          <a:solidFill>
            <a:srgbClr val="2E323B"/>
          </a:solidFill>
          <a:ln w="15875">
            <a:solidFill>
              <a:srgbClr val="C9C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DD4"/>
                </a:solidFill>
                <a:latin typeface="Segoe UI Semibold"/>
              </a:rPr>
              <a:t>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8271" y="4416552"/>
            <a:ext cx="13487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 Semibold"/>
              </a:rPr>
              <a:t>Zeynep Akel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98167" y="5157216"/>
            <a:ext cx="8595360" cy="658368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98167" y="5303520"/>
            <a:ext cx="85953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AAB0B9"/>
                </a:solidFill>
                <a:latin typeface="Segoe UI Semibold"/>
              </a:rPr>
              <a:t>Depo:  </a:t>
            </a:r>
            <a:r>
              <a:rPr sz="1350" b="0">
                <a:solidFill>
                  <a:srgbClr val="EAEBEE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6053328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Kamuya uygun, dürüst, açık kaynak ve </a:t>
            </a:r>
            <a:r>
              <a:rPr sz="1500" b="0">
                <a:solidFill>
                  <a:srgbClr val="EAEBEE"/>
                </a:solidFill>
                <a:latin typeface="Segoe UI Semibold"/>
              </a:rPr>
              <a:t>bugün çalışan</a:t>
            </a:r>
            <a:r>
              <a:rPr sz="1500" b="0">
                <a:solidFill>
                  <a:srgbClr val="989EA8"/>
                </a:solidFill>
                <a:latin typeface="Segoe UI"/>
              </a:rPr>
              <a:t> bir sistem geliştiren bir takımız.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