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158984" y="923544"/>
            <a:ext cx="1097279" cy="41148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58984" y="923544"/>
            <a:ext cx="640079" cy="12344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58984" y="923544"/>
            <a:ext cx="1463040" cy="16916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9793224" y="923544"/>
            <a:ext cx="365760" cy="10058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799063" y="1335024"/>
            <a:ext cx="457200" cy="8229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256263" y="1335024"/>
            <a:ext cx="365761" cy="12801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793224" y="1335024"/>
            <a:ext cx="1463039" cy="5943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799063" y="2157984"/>
            <a:ext cx="822961" cy="4572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9793224" y="1929384"/>
            <a:ext cx="1005839" cy="2286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793224" y="1929384"/>
            <a:ext cx="1828800" cy="6858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058400" y="82296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0" y="123444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98480" y="20574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21440" y="25146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92640" y="18288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41732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FB0E8"/>
                </a:solidFill>
                <a:latin typeface="Segoe UI Semibold"/>
              </a:rPr>
              <a:t>TEKNOFEST 2026 · YAPAY ZEKA DİL AJANLARI YARIŞMASI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1828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" y="2907792"/>
            <a:ext cx="2926080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12724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Takım Tanıtım Sunumu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D5DEEF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9204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1216" y="4892040"/>
            <a:ext cx="1481328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Kuruluş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53712" y="4892040"/>
            <a:ext cx="1389888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Açık Kaynak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42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AEC2E6"/>
                </a:solidFill>
                <a:latin typeface="Segoe UI Semibold"/>
              </a:rPr>
              <a:t>Takım Kaptanı: Şeyma Nur Çebi</a:t>
            </a:r>
            <a:r>
              <a:rPr sz="1250" b="0">
                <a:solidFill>
                  <a:srgbClr val="8296B6"/>
                </a:solidFill>
                <a:latin typeface="Segoe UI"/>
              </a:rPr>
              <a:t>   ·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BIR BAKIŞTA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Takım Künyemiz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28216"/>
            <a:ext cx="64008" cy="1161288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46504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B6FC2"/>
                </a:solidFill>
                <a:latin typeface="Segoe UI Semibol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340863"/>
            <a:ext cx="1828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Takım üyesi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25496" y="1728216"/>
            <a:ext cx="64008" cy="1161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4" y="1746504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C8102E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340863"/>
            <a:ext cx="1828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Takım kaptanı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4064" y="1728216"/>
            <a:ext cx="64008" cy="1161288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1" y="1746504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6C3FD1"/>
                </a:solidFill>
                <a:latin typeface="Segoe UI Semibold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340863"/>
            <a:ext cx="1828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Kuruluş yılı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42631" y="1728216"/>
            <a:ext cx="64008" cy="116128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746504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E8590C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2340863"/>
            <a:ext cx="1828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Uzmanlık alanı: yazılım · veri · test · doküman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728216"/>
            <a:ext cx="64008" cy="1161288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02368" y="1746504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2F9E44"/>
                </a:solidFill>
                <a:latin typeface="Segoe UI Semibold"/>
              </a:rPr>
              <a:t>Apache</a:t>
            </a:r>
            <a:r>
              <a:rPr sz="1300" b="1">
                <a:solidFill>
                  <a:srgbClr val="2F9E44"/>
                </a:solidFill>
                <a:latin typeface="Segoe UI Semibold"/>
              </a:rPr>
              <a:t> 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0656" y="2340863"/>
            <a:ext cx="1828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Açık kaynak · tamamı Türkçe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291840"/>
            <a:ext cx="11055096" cy="109728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82296" cy="10972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438144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AGENTRA TECH</a:t>
            </a:r>
            <a:r>
              <a:rPr sz="1400" b="0">
                <a:solidFill>
                  <a:srgbClr val="1A2233"/>
                </a:solidFill>
                <a:latin typeface="Segoe UI"/>
              </a:rPr>
              <a:t> — TEKNOFEST 2026 Yapay Zeka Dil Ajanları Yarışması 1. Senaryo için kurulmuş, </a:t>
            </a:r>
            <a:r>
              <a:rPr sz="1400" b="1">
                <a:solidFill>
                  <a:srgbClr val="1A2233"/>
                </a:solidFill>
                <a:latin typeface="Segoe UI Semibold"/>
              </a:rPr>
              <a:t>Türkçe dil teknolojileri ve akıllı ajan sistemlerine</a:t>
            </a:r>
            <a:r>
              <a:rPr sz="1400" b="0">
                <a:solidFill>
                  <a:srgbClr val="1A2233"/>
                </a:solidFill>
                <a:latin typeface="Segoe UI"/>
              </a:rPr>
              <a:t> odaklı 4 kişilik öğrenci takımı.</a:t>
            </a:r>
          </a:p>
          <a:p>
            <a:pPr algn="l">
              <a:spcBef>
                <a:spcPts val="300"/>
              </a:spcBef>
              <a:spcAft>
                <a:spcPts val="200"/>
              </a:spcAft>
            </a:pPr>
            <a:r>
              <a:rPr sz="1200" b="0">
                <a:solidFill>
                  <a:srgbClr val="5B6B85"/>
                </a:solidFill>
                <a:latin typeface="Segoe UI"/>
              </a:rPr>
              <a:t>Kimliğimizin merkezinde “agent” odağı vardır: her kararı izlenebilir, tamamen açık kaynak bir çözüm.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754880"/>
            <a:ext cx="194950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3232" y="4901184"/>
            <a:ext cx="274320" cy="274320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4882896"/>
            <a:ext cx="14008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9308" y="4754880"/>
            <a:ext cx="2245766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845612" y="4901184"/>
            <a:ext cx="274320" cy="274320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1372" y="4882896"/>
            <a:ext cx="16971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27955" y="4754880"/>
            <a:ext cx="155448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274259" y="4901184"/>
            <a:ext cx="274320" cy="27432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40019" y="4882896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65315" y="4754880"/>
            <a:ext cx="1653235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011619" y="4901184"/>
            <a:ext cx="274320" cy="27432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7379" y="4882896"/>
            <a:ext cx="11045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623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B85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Kuruluşumuz, Amacımız ve Değerlerimiz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806440" cy="41605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82296" cy="4160520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5349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6C3FD1"/>
                </a:solidFill>
                <a:latin typeface="Segoe UI Semibold"/>
              </a:rPr>
              <a:t>Kuruluş: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2026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6C3FD1"/>
                </a:solidFill>
                <a:latin typeface="Segoe UI Semibold"/>
              </a:rPr>
              <a:t>Takım adı: </a:t>
            </a:r>
            <a:r>
              <a:rPr sz="1200" b="0">
                <a:solidFill>
                  <a:srgbClr val="1A2233"/>
                </a:solidFill>
                <a:latin typeface="Segoe UI"/>
              </a:rPr>
              <a:t>AGENTRA TECH — kimliğimizin merkezinde “agent” (ajan) odağı vardır.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6C3FD1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2233"/>
                </a:solidFill>
                <a:latin typeface="Segoe UI"/>
              </a:rPr>
              <a:t>Kamu kurumlarındaki evrak ve yazışma süreçlerini okuyan, anlayan, eksiğini bulan, mevzuat öneren, resmî yazı taslaklayıp doğru birime yönlendiren çok ajanlı, offline-first ve yerli bir yapay zekâ sistemiyle uçtan uca otomatikleştirmek.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Değerlerimiz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94560"/>
            <a:ext cx="50292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194560"/>
            <a:ext cx="82296" cy="804672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784848" y="2395728"/>
            <a:ext cx="402336" cy="402336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2233"/>
                </a:solidFill>
                <a:latin typeface="Segoe UI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31343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2233"/>
                </a:solidFill>
                <a:latin typeface="Segoe UI Semibold"/>
              </a:rPr>
              <a:t>Güvenilirlik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624328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3090672"/>
            <a:ext cx="50292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3090672"/>
            <a:ext cx="82296" cy="804672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84848" y="3291840"/>
            <a:ext cx="402336" cy="402336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2233"/>
                </a:solidFill>
                <a:latin typeface="Segoe UI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3209544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2233"/>
                </a:solidFill>
                <a:latin typeface="Segoe UI Semibold"/>
              </a:rPr>
              <a:t>Şeffaflık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520439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986783"/>
            <a:ext cx="50292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3986783"/>
            <a:ext cx="82296" cy="804672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84848" y="4187951"/>
            <a:ext cx="402336" cy="402336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2233"/>
                </a:solidFill>
                <a:latin typeface="Segoe UI"/>
              </a:rPr>
              <a:t>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4105655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2233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416551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882896"/>
            <a:ext cx="50292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4882896"/>
            <a:ext cx="82296" cy="8046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84848" y="5084064"/>
            <a:ext cx="402336" cy="402336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2233"/>
                </a:solidFill>
                <a:latin typeface="Segoe U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500176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2233"/>
                </a:solidFill>
                <a:latin typeface="Segoe UI Semibold"/>
              </a:rPr>
              <a:t>Dürüstlük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5312664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ORGANIZASYON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Takımı Nasıl Örgütledik?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26967" y="1572768"/>
            <a:ext cx="4937760" cy="749808"/>
          </a:xfrm>
          <a:prstGeom prst="roundRect">
            <a:avLst>
              <a:gd name="adj" fmla="val 10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AGENTRA TECH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EC2E6"/>
                </a:solidFill>
                <a:latin typeface="Segoe UI"/>
              </a:rPr>
              <a:t>4 kişilik takım · Kuruluş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6703" y="2322576"/>
            <a:ext cx="18288" cy="585216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65376" y="2907792"/>
            <a:ext cx="8458200" cy="18288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65376" y="2907792"/>
            <a:ext cx="18288" cy="402335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78680" y="2907792"/>
            <a:ext cx="18288" cy="402335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1984" y="2907792"/>
            <a:ext cx="18288" cy="402335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5288" y="2907792"/>
            <a:ext cx="18288" cy="402335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310128"/>
            <a:ext cx="261518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310128"/>
            <a:ext cx="2615184" cy="73152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63623" y="3493008"/>
            <a:ext cx="621792" cy="621792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24528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26864"/>
            <a:ext cx="24688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1B6FC2"/>
                </a:solidFill>
                <a:latin typeface="Segoe UI Semibold"/>
              </a:rPr>
              <a:t>İçerik Analizi &amp;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1B6FC2"/>
                </a:solidFill>
                <a:latin typeface="Segoe UI Semibold"/>
              </a:rPr>
              <a:t>Değerlendirme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07591" y="3163824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 Semibold"/>
              </a:rPr>
              <a:t>★ TAKIM KAPTANI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232" y="3310128"/>
            <a:ext cx="261518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232" y="3310128"/>
            <a:ext cx="2615184" cy="73152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76928" y="3493008"/>
            <a:ext cx="621792" cy="621792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1672" y="4224528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3384" y="4626864"/>
            <a:ext cx="24688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6C3FD1"/>
                </a:solidFill>
                <a:latin typeface="Segoe UI Semibold"/>
              </a:rPr>
              <a:t>Mimari &amp;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6C3FD1"/>
                </a:solidFill>
                <a:latin typeface="Segoe UI Semibold"/>
              </a:rPr>
              <a:t>Orkestrasyon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3536" y="3310128"/>
            <a:ext cx="261518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3536" y="3310128"/>
            <a:ext cx="2615184" cy="73152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0232" y="3493008"/>
            <a:ext cx="621792" cy="621792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4976" y="4224528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6688" y="4626864"/>
            <a:ext cx="24688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0CA678"/>
                </a:solidFill>
                <a:latin typeface="Segoe UI Semibold"/>
              </a:rPr>
              <a:t>Etkileşim · Yönlendirme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0CA678"/>
                </a:solidFill>
                <a:latin typeface="Segoe UI Semibold"/>
              </a:rPr>
              <a:t>· KVKK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310128"/>
            <a:ext cx="261518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06840" y="3310128"/>
            <a:ext cx="2615184" cy="7315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03536" y="3493008"/>
            <a:ext cx="621792" cy="621792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4224528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4626864"/>
            <a:ext cx="24688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E8590C"/>
                </a:solidFill>
                <a:latin typeface="Segoe UI Semibold"/>
              </a:rPr>
              <a:t>Veri · Test 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E8590C"/>
                </a:solidFill>
                <a:latin typeface="Segoe UI Semibold"/>
              </a:rPr>
              <a:t>Doküman · Sunum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541264"/>
            <a:ext cx="11055096" cy="676656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660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Kaptan Şeyma Nur Çebi ekibi koordine eder; kararlar ortak GitHub deposu üzerinden şeffaf ve izlenebilir yürür. Her uzmanlık alanı bir sorumluya bağlıdır.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EKIP ÜYELERI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Takım Üyeleri ve Sorumlulukları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00584" cy="188366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828800"/>
            <a:ext cx="658368" cy="658368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179222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19" y="2176272"/>
            <a:ext cx="2181758" cy="27432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615184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Görev 1 içerik analizi: sınıflandırma, bilgi çıkarımı, mevzuat RAG; değerlendirme ve uçtan uca entegrasyon.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175564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 Semibold"/>
              </a:rPr>
              <a:t>★ KAPTAN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572768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572768"/>
            <a:ext cx="100584" cy="1883664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1828800"/>
            <a:ext cx="658368" cy="658368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59" y="179222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59" y="2176272"/>
            <a:ext cx="982065" cy="274320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615184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Mimari ve orkestrasyon; model-agnostik LLM katmanı; Görev 2 taslak üretimi (OCR ve özet dâhil).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02736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602736"/>
            <a:ext cx="100584" cy="188366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" y="3858768"/>
            <a:ext cx="658368" cy="658368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19" y="3822191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45919" y="4206240"/>
            <a:ext cx="2031796" cy="27432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45152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Veri seti ve etiketleme; test kapsamı; dokümantasyon; sunum ve demo; şartname uyum takibi.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602736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602736"/>
            <a:ext cx="100584" cy="1883664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3858768"/>
            <a:ext cx="658368" cy="658368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59" y="3822191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59" y="4206240"/>
            <a:ext cx="982065" cy="27432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645152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Görev 1 eksik bilgi tespiti; Görev 2 yönlendirme ve kullanıcı etkileşimi; triyaj, KVKK; web arayüzü.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5099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B85"/>
                </a:solidFill>
                <a:latin typeface="Segoe UI"/>
              </a:rPr>
              <a:t>Her üye için okul/bölüm bilgisi: </a:t>
            </a:r>
            <a:r>
              <a:rPr sz="1050" b="0">
                <a:solidFill>
                  <a:srgbClr val="C8102E"/>
                </a:solidFill>
                <a:latin typeface="Segoe UI"/>
              </a:rPr>
              <a:t>[Bölüm / Üniversite — doldurulacak]</a:t>
            </a:r>
            <a:r>
              <a:rPr sz="1050" b="0">
                <a:solidFill>
                  <a:srgbClr val="5B6B85"/>
                </a:solidFill>
                <a:latin typeface="Segoe UI"/>
              </a:rPr>
              <a:t>      Danışman: </a:t>
            </a:r>
            <a:r>
              <a:rPr sz="1050" b="0">
                <a:solidFill>
                  <a:srgbClr val="C8102E"/>
                </a:solidFill>
                <a:latin typeface="Segoe UI"/>
              </a:rPr>
              <a:t>[Ad Soyad — Unvan/Kurum · varsa]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Görev Dağılımımız · Şartname m.6.4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36192"/>
            <a:ext cx="5486400" cy="367588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36192"/>
            <a:ext cx="5486400" cy="457200"/>
          </a:xfrm>
          <a:prstGeom prst="roundRect">
            <a:avLst>
              <a:gd name="adj" fmla="val 5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486400" cy="14630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486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OCR / metin okuma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21284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619756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2948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9724" y="2711196"/>
            <a:ext cx="1147572" cy="292608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27832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Bilgi çıkarımı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9724" y="3209544"/>
            <a:ext cx="1147572" cy="292608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3616451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26179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Eksik bilgi tespiti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0328" y="3707891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24528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9724" y="4206240"/>
            <a:ext cx="1147572" cy="292608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" y="4613148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28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Özet oluşturma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4064" y="470458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1536192"/>
            <a:ext cx="5486400" cy="367588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44768" y="1536192"/>
            <a:ext cx="5486400" cy="457200"/>
          </a:xfrm>
          <a:prstGeom prst="roundRect">
            <a:avLst>
              <a:gd name="adj" fmla="val 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847088"/>
            <a:ext cx="5486400" cy="14630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572768"/>
            <a:ext cx="5486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23113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Resmî yazı taslağı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61904" y="221284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2619756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72948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61904" y="2711196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227832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Birim yönlendirme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88167" y="3209544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3616451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726179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88167" y="3707891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24528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Eksik bilgi talebi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88167" y="4206240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4496" y="4613148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7228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75036" y="4704588"/>
            <a:ext cx="800100" cy="29260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35838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B85"/>
                </a:solidFill>
                <a:latin typeface="Segoe UI"/>
              </a:rPr>
              <a:t>Her yetenek bir sorumluya ve gerçek bir kod modülüne bağlıdır.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5349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B85"/>
                </a:solidFill>
                <a:latin typeface="Segoe UI Semibold"/>
              </a:rPr>
              <a:t>Ekip: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5349240"/>
            <a:ext cx="1085392" cy="27432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42224" y="5349240"/>
            <a:ext cx="660196" cy="274320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21293" y="5349240"/>
            <a:ext cx="830275" cy="27432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0440" y="5349240"/>
            <a:ext cx="745236" cy="27432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Nasıl Çalışıyoruz?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1976932" cy="658368"/>
          </a:xfrm>
          <a:prstGeom prst="roundRect">
            <a:avLst>
              <a:gd name="adj" fmla="val 16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💡 Fikir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2148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6468" y="1783080"/>
            <a:ext cx="1976932" cy="658368"/>
          </a:xfrm>
          <a:prstGeom prst="roundRect">
            <a:avLst>
              <a:gd name="adj" fmla="val 16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⚙️ Geliştirme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689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6009" y="1783080"/>
            <a:ext cx="1976932" cy="658368"/>
          </a:xfrm>
          <a:prstGeom prst="roundRect">
            <a:avLst>
              <a:gd name="adj" fmla="val 16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🧪 Test &amp; Ölçüm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1230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5550" y="1783080"/>
            <a:ext cx="1976932" cy="658368"/>
          </a:xfrm>
          <a:prstGeom prst="roundRect">
            <a:avLst>
              <a:gd name="adj" fmla="val 16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📊 Dürüst Rapor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0771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5091" y="1783080"/>
            <a:ext cx="1976932" cy="658368"/>
          </a:xfrm>
          <a:prstGeom prst="roundRect">
            <a:avLst>
              <a:gd name="adj" fmla="val 1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🔁 İyileştirme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560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B85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08960"/>
            <a:ext cx="3593592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08960"/>
            <a:ext cx="3593592" cy="82296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328415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🔓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785615"/>
            <a:ext cx="320954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3108960"/>
            <a:ext cx="3593592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3108960"/>
            <a:ext cx="3593592" cy="8229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3328415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🔄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785615"/>
            <a:ext cx="320954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500+ otomatik test sürekli yeşil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108960"/>
            <a:ext cx="3593592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10144" y="3108960"/>
            <a:ext cx="3593592" cy="8229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328415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🎯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785615"/>
            <a:ext cx="320954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Değerlendirme aracıyla düzenli ölçüm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Ne Geliştiriyoruz?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1055096" cy="96012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00784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33"/>
                </a:solidFill>
                <a:latin typeface="Segoe UI"/>
              </a:rPr>
              <a:t>Kamu kurumlarına gelen evrağı </a:t>
            </a:r>
            <a:r>
              <a:rPr sz="1400" b="1">
                <a:solidFill>
                  <a:srgbClr val="1A2233"/>
                </a:solidFill>
                <a:latin typeface="Segoe UI Semibold"/>
              </a:rPr>
              <a:t>okuyan · anlayan · eksiğini bulan · mevzuat öneren · resmî yazı taslaklayan · doğru birime yönlendiren</a:t>
            </a:r>
            <a:r>
              <a:rPr sz="1400" b="0">
                <a:solidFill>
                  <a:srgbClr val="1A2233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300"/>
              </a:spcBef>
              <a:spcAft>
                <a:spcPts val="200"/>
              </a:spcAft>
            </a:pPr>
            <a:r>
              <a:rPr sz="1150" b="0">
                <a:solidFill>
                  <a:srgbClr val="5B6B85"/>
                </a:solidFill>
                <a:latin typeface="Segoe UI"/>
              </a:rPr>
              <a:t>11 uzman ajan + orkestratör · framework bağımsız saf Python · çevrimdışı-öncelikli (offline-first)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88920"/>
            <a:ext cx="1976932" cy="640080"/>
          </a:xfrm>
          <a:prstGeom prst="roundRect">
            <a:avLst>
              <a:gd name="adj" fmla="val 16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📥 Girdi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2971800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6468" y="2788920"/>
            <a:ext cx="1976932" cy="640080"/>
          </a:xfrm>
          <a:prstGeom prst="roundRect">
            <a:avLst>
              <a:gd name="adj" fmla="val 16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🧠 Orkestratör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1689" y="2971800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6009" y="2788920"/>
            <a:ext cx="1976932" cy="640080"/>
          </a:xfrm>
          <a:prstGeom prst="roundRect">
            <a:avLst>
              <a:gd name="adj" fmla="val 16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📋 Görev 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1230" y="2971800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5550" y="2788920"/>
            <a:ext cx="1976932" cy="640080"/>
          </a:xfrm>
          <a:prstGeom prst="roundRect">
            <a:avLst>
              <a:gd name="adj" fmla="val 1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✍️ Görev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0771" y="2971800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5091" y="2788920"/>
            <a:ext cx="1976932" cy="640080"/>
          </a:xfrm>
          <a:prstGeom prst="roundRect">
            <a:avLst>
              <a:gd name="adj" fmla="val 16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📤 12+ Çıktı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03320"/>
            <a:ext cx="5440680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03320"/>
            <a:ext cx="5440680" cy="8229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22776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📋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79976"/>
            <a:ext cx="50566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İlgili mevzuat önerisi · kısa özet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703320"/>
            <a:ext cx="5440680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3703320"/>
            <a:ext cx="5440680" cy="8229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922776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✍️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379976"/>
            <a:ext cx="50566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8590C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8590C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8590C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79729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B85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Bugüne Kadar Ne Ürettik?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64008" cy="1161288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73936"/>
            <a:ext cx="2441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2F9E44"/>
                </a:solidFill>
                <a:latin typeface="Segoe UI Semibold"/>
              </a:rPr>
              <a:t>Çalışan</a:t>
            </a:r>
            <a:r>
              <a:rPr sz="1300" b="1">
                <a:solidFill>
                  <a:srgbClr val="2F9E44"/>
                </a:solidFill>
                <a:latin typeface="Segoe UI Semibold"/>
              </a:rPr>
              <a:t> sistem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368296"/>
            <a:ext cx="2386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CLI + web arayüzü + demo · uçtan uca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92424" y="1755648"/>
            <a:ext cx="64008" cy="1161288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773936"/>
            <a:ext cx="2441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B6FC2"/>
                </a:solidFill>
                <a:latin typeface="Segoe UI Semibold"/>
              </a:rPr>
              <a:t>500</a:t>
            </a:r>
            <a:r>
              <a:rPr sz="1300" b="1">
                <a:solidFill>
                  <a:srgbClr val="1B6FC2"/>
                </a:solidFill>
                <a:latin typeface="Segoe UI Semibold"/>
              </a:rPr>
              <a:t>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68296"/>
            <a:ext cx="2386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55648"/>
            <a:ext cx="64008" cy="116128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773936"/>
            <a:ext cx="2441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E8590C"/>
                </a:solidFill>
                <a:latin typeface="Segoe UI Semibold"/>
              </a:rPr>
              <a:t>116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368296"/>
            <a:ext cx="2386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755648"/>
            <a:ext cx="64008" cy="1161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4584" y="1773936"/>
            <a:ext cx="2441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C8102E"/>
                </a:solidFill>
                <a:latin typeface="Segoe UI Semi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2368296"/>
            <a:ext cx="2386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10128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10128"/>
            <a:ext cx="5440680" cy="8229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45643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2233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3877056"/>
            <a:ext cx="50383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Sınıflandırma doğruluğu  </a:t>
            </a:r>
            <a:r>
              <a:rPr sz="1100" b="1">
                <a:solidFill>
                  <a:srgbClr val="1B6FC2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Birim yönlendirme  </a:t>
            </a:r>
            <a:r>
              <a:rPr sz="1100" b="1">
                <a:solidFill>
                  <a:srgbClr val="1B6FC2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Eksik-bilgi tespiti (F1)  </a:t>
            </a:r>
            <a:r>
              <a:rPr sz="1100" b="1">
                <a:solidFill>
                  <a:srgbClr val="1B6FC2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Mevzuat isabet@3  </a:t>
            </a:r>
            <a:r>
              <a:rPr sz="1100" b="1">
                <a:solidFill>
                  <a:srgbClr val="1B6FC2"/>
                </a:solidFill>
                <a:latin typeface="Segoe UI Semibold"/>
              </a:rPr>
              <a:t>0,96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310128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310128"/>
            <a:ext cx="5440680" cy="8229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9944" y="345643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2233"/>
                </a:solidFill>
                <a:latin typeface="Segoe UI Semibold"/>
              </a:rPr>
              <a:t>Adversarial tutulmuş set · 16 evrak (dokunulmamış)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3877056"/>
            <a:ext cx="50383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Sınıflandırma doğruluğu  </a:t>
            </a:r>
            <a:r>
              <a:rPr sz="1100" b="1">
                <a:solidFill>
                  <a:srgbClr val="E8590C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Birim yönlendirme  </a:t>
            </a:r>
            <a:r>
              <a:rPr sz="1100" b="1">
                <a:solidFill>
                  <a:srgbClr val="E8590C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Eksik-bilgi tespiti (F1)  </a:t>
            </a:r>
            <a:r>
              <a:rPr sz="1100" b="1">
                <a:solidFill>
                  <a:srgbClr val="E8590C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Mevzuat isabet@3  </a:t>
            </a:r>
            <a:r>
              <a:rPr sz="1100" b="1">
                <a:solidFill>
                  <a:srgbClr val="E8590C"/>
                </a:solidFill>
                <a:latin typeface="Segoe UI Semibold"/>
              </a:rPr>
              <a:t>0,94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32180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B85"/>
                </a:solidFill>
                <a:latin typeface="Segoe UI Semibold"/>
              </a:rPr>
              <a:t>Kaynak: </a:t>
            </a:r>
            <a:r>
              <a:rPr sz="1000" b="0">
                <a:solidFill>
                  <a:srgbClr val="1A2233"/>
                </a:solidFill>
                <a:latin typeface="Consolas"/>
              </a:rPr>
              <a:t>data/processed/eval_report*.json</a:t>
            </a:r>
            <a:r>
              <a:rPr sz="1000" b="0">
                <a:solidFill>
                  <a:srgbClr val="5B6B85"/>
                </a:solidFill>
                <a:latin typeface="Segoe UI"/>
              </a:rPr>
              <a:t>  ·  tamamen çevrimdışı mod  ·  sonuçlar olduğu gibi raporlanır  ·  Apache 2.0 açık kaynak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Katılım Motivasyonumuz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865376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⏱️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3163824"/>
            <a:ext cx="603504" cy="5486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93852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1518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627632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98848" y="1865376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3163824"/>
            <a:ext cx="603504" cy="5486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193852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61518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27632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1865376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163824"/>
            <a:ext cx="603504" cy="54864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4544" y="193852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261518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57600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895344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" y="5193792"/>
            <a:ext cx="603504" cy="54864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36192" y="396849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64515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3657600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98848" y="3895344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5193792"/>
            <a:ext cx="603504" cy="5486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0368" y="396849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464515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3657600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3858768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B434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8E2F3"/>
                </a:solidFill>
                <a:latin typeface="Segoe UI"/>
              </a:rPr>
              <a:t>“Her şeyi otomatikleştiren” değil; </a:t>
            </a:r>
            <a:r>
              <a:rPr sz="1150" b="1">
                <a:solidFill>
                  <a:srgbClr val="FFFFFF"/>
                </a:solidFill>
                <a:latin typeface="Segoe UI Semibold"/>
              </a:rPr>
              <a:t>doğru yerde insana devreden</a:t>
            </a:r>
            <a:r>
              <a:rPr sz="1150" b="0">
                <a:solidFill>
                  <a:srgbClr val="D8E2F3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47395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8102E"/>
                </a:solidFill>
                <a:latin typeface="Segoe UI Semibold"/>
              </a:rPr>
              <a:t>TEŞEKKÜRLER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41732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D8E2F3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63240"/>
            <a:ext cx="2359152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" y="3200400"/>
            <a:ext cx="228600" cy="228600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163824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Şeyma Nur Çebi</a:t>
            </a:r>
            <a:r>
              <a:rPr sz="1000" b="0">
                <a:solidFill>
                  <a:srgbClr val="9FB4D8"/>
                </a:solidFill>
                <a:latin typeface="Segoe UI"/>
              </a:rPr>
              <a:t>  · Kaptan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3063240"/>
            <a:ext cx="2167128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11296" y="3200400"/>
            <a:ext cx="228600" cy="228600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163824"/>
            <a:ext cx="1709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3063240"/>
            <a:ext cx="1463040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1304" y="3200400"/>
            <a:ext cx="228600" cy="2286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163824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Emine Elik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3063240"/>
            <a:ext cx="1563624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07224" y="3200400"/>
            <a:ext cx="228600" cy="22860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163824"/>
            <a:ext cx="1106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Zeynep Akel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7040880" cy="640080"/>
          </a:xfrm>
          <a:prstGeom prst="roundRect">
            <a:avLst>
              <a:gd name="adj" fmla="val 1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11480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FB4D8"/>
                </a:solidFill>
                <a:latin typeface="Segoe UI Semibold"/>
              </a:rPr>
              <a:t>Depo:  </a:t>
            </a:r>
            <a:r>
              <a:rPr sz="1200" b="0">
                <a:solidFill>
                  <a:srgbClr val="FFFFFF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54880"/>
            <a:ext cx="7040880" cy="640080"/>
          </a:xfrm>
          <a:prstGeom prst="roundRect">
            <a:avLst>
              <a:gd name="adj" fmla="val 1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FB4D8"/>
                </a:solidFill>
                <a:latin typeface="Segoe UI Semibold"/>
              </a:rPr>
              <a:t>İletişim:  </a:t>
            </a:r>
            <a:r>
              <a:rPr sz="1200" b="0">
                <a:solidFill>
                  <a:srgbClr val="F3B7C0"/>
                </a:solidFill>
                <a:latin typeface="Segoe UI"/>
              </a:rPr>
              <a:t>[takım e-postası — doldurulacak]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7D5EC"/>
                </a:solidFill>
                <a:latin typeface="Segoe UI"/>
              </a:rPr>
              <a:t>Kamuya uygun, dürüst, açık kaynak ve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bugün çalışan</a:t>
            </a:r>
            <a:r>
              <a:rPr sz="1350" b="0">
                <a:solidFill>
                  <a:srgbClr val="C7D5EC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