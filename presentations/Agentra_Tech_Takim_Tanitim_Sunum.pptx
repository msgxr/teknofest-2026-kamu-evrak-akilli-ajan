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96112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 spc="300">
                <a:solidFill>
                  <a:srgbClr val="AAB0B9"/>
                </a:solidFill>
                <a:latin typeface="Segoe UI"/>
              </a:rPr>
              <a:t>TEKNOFEST 2026 · YAPAY ZEKA DİL AJANLARI YARIŞMASI</a:t>
            </a:r>
          </a:p>
        </p:txBody>
      </p:sp>
      <p:pic>
        <p:nvPicPr>
          <p:cNvPr id="3" name="Picture 2" descr="agen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17320"/>
            <a:ext cx="5486400" cy="1933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39312"/>
            <a:ext cx="121916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0" spc="50">
                <a:solidFill>
                  <a:srgbClr val="EAEBEE"/>
                </a:solidFill>
                <a:latin typeface="Segoe UI Semilight"/>
              </a:rPr>
              <a:t>Takım Tanıtım Sunumu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989EA8"/>
                </a:solidFill>
                <a:latin typeface="Segoe UI"/>
              </a:rPr>
              <a:t>Kamu Evrak ve Yazışma Süreçleri için Akıllı Agent Destek Sistemi · 1. Senaryo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29203" y="5138928"/>
            <a:ext cx="2066543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4 Üye · 1 Kaptan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15203" y="5138928"/>
            <a:ext cx="1664208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Kuruluş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98867" y="5138928"/>
            <a:ext cx="1563624" cy="438912"/>
          </a:xfrm>
          <a:prstGeom prst="roundRect">
            <a:avLst>
              <a:gd name="adj" fmla="val 50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AAB0B9"/>
                </a:solidFill>
                <a:latin typeface="Segoe UI Semibold"/>
              </a:rPr>
              <a:t>Açık Kaynak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61888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AAB0B9"/>
                </a:solidFill>
                <a:latin typeface="Segoe UI"/>
              </a:rPr>
              <a:t>Takım Kaptanı: Şeyma Nur Çebi</a:t>
            </a:r>
            <a:r>
              <a:rPr sz="1400" b="0">
                <a:solidFill>
                  <a:srgbClr val="989EA8"/>
                </a:solidFill>
                <a:latin typeface="Segoe UI"/>
              </a:rPr>
              <a:t>     ·   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TAKIMIMIZ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Kısaca Biz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Takım üyesi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25496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25496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9815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8103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Takım kaptanı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4064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8383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Kuruluş yılı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42631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42631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Farklı üniversite · 3 mühendislik dalı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737360"/>
            <a:ext cx="2157984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0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1865376"/>
            <a:ext cx="181051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Açık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93808" y="2441448"/>
            <a:ext cx="175564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Kaynak · Apache 2.0 · tamamı Türkçe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01568"/>
            <a:ext cx="11055096" cy="137160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401568"/>
            <a:ext cx="73152" cy="137160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639312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EAEBEE"/>
                </a:solidFill>
                <a:latin typeface="Segoe UI"/>
              </a:rPr>
              <a:t>Biz </a:t>
            </a:r>
            <a:r>
              <a:rPr sz="1650" b="0">
                <a:solidFill>
                  <a:srgbClr val="C9CDD4"/>
                </a:solidFill>
                <a:latin typeface="Segoe UI Semibold"/>
              </a:rPr>
              <a:t>AGENTRA TECH</a:t>
            </a:r>
            <a:r>
              <a:rPr sz="1600" b="0">
                <a:solidFill>
                  <a:srgbClr val="EAEBEE"/>
                </a:solidFill>
                <a:latin typeface="Segoe UI"/>
              </a:rPr>
              <a:t>; TEKNOFEST 2026 için bir araya gelen, </a:t>
            </a:r>
            <a:r>
              <a:rPr sz="1600" b="0">
                <a:solidFill>
                  <a:srgbClr val="C9CDD4"/>
                </a:solidFill>
                <a:latin typeface="Segoe UI Semibold"/>
              </a:rPr>
              <a:t>akıllı ajan sistemleri</a:t>
            </a:r>
            <a:r>
              <a:rPr sz="1600" b="0">
                <a:solidFill>
                  <a:srgbClr val="EAEBEE"/>
                </a:solidFill>
                <a:latin typeface="Segoe UI"/>
              </a:rPr>
              <a:t> üzerine çalışan 4 kişilik bir öğrenci takımıyız.</a:t>
            </a:r>
          </a:p>
          <a:p>
            <a:pPr algn="l">
              <a:spcBef>
                <a:spcPts val="600"/>
              </a:spcBef>
              <a:spcAft>
                <a:spcPts val="200"/>
              </a:spcAft>
            </a:pPr>
            <a:r>
              <a:rPr sz="1350" b="0">
                <a:solidFill>
                  <a:srgbClr val="989EA8"/>
                </a:solidFill>
                <a:latin typeface="Segoe UI"/>
              </a:rPr>
              <a:t>Adımızın merkezinde “agent” var: kararları izlenebilir, tamamen açık kaynak bir sistem geliştiriyoruz.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2852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Şartname m.3.1: bu sunum takımın organizasyon yapısını, ekip üyelerini ve görev dağılımını tanıtır.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KIMLIĞIMIZ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Kuruluşumuz, Amacımız ve Değerlerimiz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64208"/>
            <a:ext cx="5806440" cy="420624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64208"/>
            <a:ext cx="73152" cy="420624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47088"/>
            <a:ext cx="5349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EAEBEE"/>
                </a:solidFill>
                <a:latin typeface="Segoe UI Semibold"/>
              </a:rPr>
              <a:t>Kuruluş &amp; Amaç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14016"/>
            <a:ext cx="53949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Kuruluş: </a:t>
            </a:r>
            <a:r>
              <a:rPr sz="1400" b="0">
                <a:solidFill>
                  <a:srgbClr val="EAEBEE"/>
                </a:solidFill>
                <a:latin typeface="Segoe UI Semibold"/>
              </a:rPr>
              <a:t>2026</a:t>
            </a:r>
            <a:r>
              <a:rPr sz="1300" b="0">
                <a:solidFill>
                  <a:srgbClr val="989EA8"/>
                </a:solidFill>
                <a:latin typeface="Segoe UI"/>
              </a:rPr>
              <a:t>   ·   4 kişilik öğrenci takımı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Takım adı: </a:t>
            </a:r>
            <a:r>
              <a:rPr sz="1350" b="0">
                <a:solidFill>
                  <a:srgbClr val="EAEBEE"/>
                </a:solidFill>
                <a:latin typeface="Segoe UI"/>
              </a:rPr>
              <a:t>AGENTRA TECH — merkezinde “agent” (ajan) odağı vardır.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9CDD4"/>
                </a:solidFill>
                <a:latin typeface="Segoe UI Semibold"/>
              </a:rPr>
              <a:t>Amacımız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AEBEE"/>
                </a:solidFill>
                <a:latin typeface="Segoe UI"/>
              </a:rPr>
              <a:t>Kamu evrak ve yazışma süreçlerini okuyan, anlayan, eksiğini bulan, mevzuat öneren, resmî yazı taslaklayıp doğru birime yönlendiren; çok ajanlı, offline-first ve yerli bir yapay zekâ sistemiyle uçtan uca otomatikleştirmek.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792224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EAEBEE"/>
                </a:solidFill>
                <a:latin typeface="Segoe UI Semibold"/>
              </a:rPr>
              <a:t>Değerlerimiz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377440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377440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03136" y="2505456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Güvenilirlik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3136" y="2852928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karar bir güven skoruyla gelir.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310128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310128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3438144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Şeffaflık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3785616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Her öneri gerekçe ve madde dayanağı taşır.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4242816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4242816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3136" y="43708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Veri Koruması (KVKK)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3136" y="4718304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Kişisel veri sızdırılmaz; yerli ve offline.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5175504"/>
            <a:ext cx="5029200" cy="841248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0" y="5175504"/>
            <a:ext cx="73152" cy="841248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03136" y="53035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0">
                <a:solidFill>
                  <a:srgbClr val="EAEBEE"/>
                </a:solidFill>
                <a:latin typeface="Segoe UI Semibold"/>
              </a:rPr>
              <a:t>Dürüstlük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3136" y="5650992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Ölçümler ne çıkarsa olduğu gibi raporlanır.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EKIP &amp; ORGANIZASYON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Ekibimiz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536192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36192"/>
            <a:ext cx="91440" cy="2157984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oto_sey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901952"/>
            <a:ext cx="783980" cy="1133856"/>
          </a:xfrm>
          <a:prstGeom prst="rect">
            <a:avLst/>
          </a:prstGeom>
          <a:ln w="9525">
            <a:solidFill>
              <a:srgbClr val="5B616B"/>
            </a:solidFill>
          </a:ln>
          <a:effectLst/>
        </p:spPr>
      </p:pic>
      <p:sp>
        <p:nvSpPr>
          <p:cNvPr id="8" name="TextBox 7"/>
          <p:cNvSpPr txBox="1"/>
          <p:nvPr/>
        </p:nvSpPr>
        <p:spPr>
          <a:xfrm>
            <a:off x="1865376" y="1847088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Şeyma Nur Çebi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2322576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Yazılım Müh. · 3. Sınıf · Arel Üni.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3664" y="2651760"/>
            <a:ext cx="2609697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TAKIM KAPTANI · YAZILIM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017520"/>
            <a:ext cx="49560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"/>
              </a:rPr>
              <a:t>Görev 1 içerik analizi hattı: tür sınıflandırma, bilgi çıkarımı ve BM25 tabanlı mevzuat önerisi (RAG). Değerlendirme metrikleri ve uçtan uca entegrasyon; kaptan olarak ekip koordinasyonu.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1728" y="1792224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4151A"/>
                </a:solidFill>
                <a:latin typeface="Segoe UI Semibold"/>
              </a:rPr>
              <a:t>★ KAPTAN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36192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536192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oto_si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1901952"/>
            <a:ext cx="798559" cy="1133856"/>
          </a:xfrm>
          <a:prstGeom prst="rect">
            <a:avLst/>
          </a:prstGeom>
          <a:ln w="9525">
            <a:solidFill>
              <a:srgbClr val="5B616B"/>
            </a:solidFill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7443216" y="1847088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Muhammed Sina Gün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2322576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Bilgisayar Müh. · 3. Sınıf · Arel Üni.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2651760"/>
            <a:ext cx="1175918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YAZILIM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017520"/>
            <a:ext cx="49560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"/>
              </a:rPr>
              <a:t>Sistem mimarisi ve orkestratör tasarımı; model-agnostik LLM katmanı (offline/çevrimiçi otomatik tespit). OCR ve özetleme ajanları; Görev 2 resmî yazı taslağı ve format öz-denetimi.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03904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803904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oto_em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4169664"/>
            <a:ext cx="745105" cy="1133856"/>
          </a:xfrm>
          <a:prstGeom prst="rect">
            <a:avLst/>
          </a:prstGeom>
          <a:ln w="9525">
            <a:solidFill>
              <a:srgbClr val="5B616B"/>
            </a:solidFill>
          </a:ln>
          <a:effectLst/>
        </p:spPr>
      </p:pic>
      <p:sp>
        <p:nvSpPr>
          <p:cNvPr id="23" name="TextBox 22"/>
          <p:cNvSpPr txBox="1"/>
          <p:nvPr/>
        </p:nvSpPr>
        <p:spPr>
          <a:xfrm>
            <a:off x="1865376" y="4114800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Emine Elik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83664" y="4590288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Maden Müh. · 1. Sınıf · Cerrahpaşa Üni.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83664" y="4919472"/>
            <a:ext cx="2430475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VERİ · TEST · DOKÜMAN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5285232"/>
            <a:ext cx="49560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"/>
              </a:rPr>
              <a:t>Sentetik kurgu evrak veri setleri ve etiketleme; 500+ otomatik testle kapsam güvencesi; teknik rapor ve dokümantasyon; sunum ve demo hazırlığı; TEKNOFEST şartname uyum takibi.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3803904"/>
            <a:ext cx="5486400" cy="215798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3803904"/>
            <a:ext cx="91440" cy="2157984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foto_zeyne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169664"/>
            <a:ext cx="594465" cy="1133856"/>
          </a:xfrm>
          <a:prstGeom prst="rect">
            <a:avLst/>
          </a:prstGeom>
          <a:ln w="9525">
            <a:solidFill>
              <a:srgbClr val="5B616B"/>
            </a:solidFill>
          </a:ln>
          <a:effectLst/>
        </p:spPr>
      </p:pic>
      <p:sp>
        <p:nvSpPr>
          <p:cNvPr id="30" name="TextBox 29"/>
          <p:cNvSpPr txBox="1"/>
          <p:nvPr/>
        </p:nvSpPr>
        <p:spPr>
          <a:xfrm>
            <a:off x="7443216" y="4114800"/>
            <a:ext cx="4023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50" b="0">
                <a:solidFill>
                  <a:srgbClr val="EAEBEE"/>
                </a:solidFill>
                <a:latin typeface="Segoe UI Semibold"/>
              </a:rPr>
              <a:t>Zeynep Akel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61504" y="4590288"/>
            <a:ext cx="4023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9CDD4"/>
                </a:solidFill>
                <a:latin typeface="Segoe UI Semibold"/>
              </a:rPr>
              <a:t>Yazılım Müh. · 3. Sınıf · Biruni Üni.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61504" y="4919472"/>
            <a:ext cx="1175918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YAZILIM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5285232"/>
            <a:ext cx="49560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"/>
              </a:rPr>
              <a:t>Görev 1 eksik bilgi tespiti; Görev 2 birim yönlendirme, kullanıcı bilgilendirme ve eksik bilgi talebi. Önceliklendirme/triyaj, KVKK maskeleme ve web arayüzü.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01675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Takım kaptanı Şeyma Nur Çebi ekibi koordine eder · her uzmanlık alanı bir sorumluya bağlıdır · 3 üniversite, 3 mühendislik dalı.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GÖREV DAĞILIMI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Görev Dağılımımız · Şartname m.6.4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572768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5486400" cy="146304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5486400" cy="45720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09344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9CDD4"/>
                </a:solidFill>
                <a:latin typeface="Segoe UI Semibold"/>
              </a:rPr>
              <a:t>GÖREV 1 — Sınıflandırma &amp; İçerik Analizi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34086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OCR / metin okuma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231343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" y="2729484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8575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Tür belirleme (sınıflandırma)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830068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74136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Bilgi çıkarımı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3346703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3762756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890772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Eksik bilgi tespiti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386334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40740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Mevzuat önerisi (BM25 RAG)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4379976"/>
            <a:ext cx="12252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Şeyma Nur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" y="4796027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4924043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Özet oluşturma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0" y="489661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4768" y="1572768"/>
            <a:ext cx="5486400" cy="3767328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44768" y="1572768"/>
            <a:ext cx="5486400" cy="512064"/>
          </a:xfrm>
          <a:prstGeom prst="roundRect">
            <a:avLst>
              <a:gd name="adj" fmla="val 5000"/>
            </a:avLst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1920240"/>
            <a:ext cx="5486400" cy="146304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572768"/>
            <a:ext cx="5486400" cy="45720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44768" y="1609344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C9CDD4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2340864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Resmî yazı taslağı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07040" y="2313432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2729484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8575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Format öz-denetimi (üslup)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607040" y="2830068"/>
            <a:ext cx="76809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Sina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374136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Birim yönlendirme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3346703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54496" y="3762756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3890772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Kullanıcı bilgilendirme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24160" y="3863340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407407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Eksik bilgi talebi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4379976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Zeynep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54496" y="4796027"/>
            <a:ext cx="5266944" cy="502920"/>
          </a:xfrm>
          <a:prstGeom prst="rect">
            <a:avLst/>
          </a:prstGeom>
          <a:solidFill>
            <a:srgbClr val="232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4924043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EAEBEE"/>
                </a:solidFill>
                <a:latin typeface="Segoe UI"/>
              </a:rPr>
              <a:t>Altyapı: veri · test · doküman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15600" y="4896612"/>
            <a:ext cx="859536" cy="310896"/>
          </a:xfrm>
          <a:prstGeom prst="roundRect">
            <a:avLst>
              <a:gd name="adj" fmla="val 50000"/>
            </a:avLst>
          </a:prstGeom>
          <a:solidFill>
            <a:srgbClr val="23262F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DD4"/>
                </a:solidFill>
                <a:latin typeface="Segoe UI Semibold"/>
              </a:rPr>
              <a:t>Emine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431536"/>
            <a:ext cx="1105509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"/>
              </a:rPr>
              <a:t>Her yetenek bir sorumluya ve gerçek bir kod modülüne (11 uzman ajan + orkestratör) bağlıdır.  </a:t>
            </a:r>
            <a:r>
              <a:rPr sz="1150" b="0">
                <a:solidFill>
                  <a:srgbClr val="C9CDD4"/>
                </a:solidFill>
                <a:latin typeface="Segoe UI Semibold"/>
              </a:rPr>
              <a:t>Şeyma Nur</a:t>
            </a:r>
            <a:r>
              <a:rPr sz="1150" b="0">
                <a:solidFill>
                  <a:srgbClr val="989EA8"/>
                </a:solidFill>
                <a:latin typeface="Segoe UI"/>
              </a:rPr>
              <a:t> içerik analizi + koordinasyon/entegrasyon · </a:t>
            </a:r>
            <a:r>
              <a:rPr sz="1150" b="0">
                <a:solidFill>
                  <a:srgbClr val="C9CDD4"/>
                </a:solidFill>
                <a:latin typeface="Segoe UI Semibold"/>
              </a:rPr>
              <a:t>Sina</a:t>
            </a:r>
            <a:r>
              <a:rPr sz="1150" b="0">
                <a:solidFill>
                  <a:srgbClr val="989EA8"/>
                </a:solidFill>
                <a:latin typeface="Segoe UI"/>
              </a:rPr>
              <a:t> mimari, OCR, özet, taslak · </a:t>
            </a:r>
            <a:r>
              <a:rPr sz="1150" b="0">
                <a:solidFill>
                  <a:srgbClr val="C9CDD4"/>
                </a:solidFill>
                <a:latin typeface="Segoe UI Semibold"/>
              </a:rPr>
              <a:t>Zeynep</a:t>
            </a:r>
            <a:r>
              <a:rPr sz="1150" b="0">
                <a:solidFill>
                  <a:srgbClr val="989EA8"/>
                </a:solidFill>
                <a:latin typeface="Segoe UI"/>
              </a:rPr>
              <a:t> eksik bilgi, yönlendirme, etkileşim, KVKK · </a:t>
            </a:r>
            <a:r>
              <a:rPr sz="1150" b="0">
                <a:solidFill>
                  <a:srgbClr val="C9CDD4"/>
                </a:solidFill>
                <a:latin typeface="Segoe UI Semibold"/>
              </a:rPr>
              <a:t>Emine</a:t>
            </a:r>
            <a:r>
              <a:rPr sz="1150" b="0">
                <a:solidFill>
                  <a:srgbClr val="989EA8"/>
                </a:solidFill>
                <a:latin typeface="Segoe UI"/>
              </a:rPr>
              <a:t> veri, test, doküman altyapısı.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ÇALIŞMA BIÇIMIMIZ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Nasıl Çalışıyoruz?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Fikir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2148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6468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Geliştirme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31689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06009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Test &amp; Ölçüm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01230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75550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Dürüst Rapor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0771" y="2075688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45091" y="1847088"/>
            <a:ext cx="1976932" cy="713232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İyileştirme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7249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Her özellik; fikirden koda, otomatik testlere ve dürüst ölçüme kadar aynı döngüden geçer.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Açık ve İzlenebilir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Ortak GitHub deposu (Apache 2.0)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Her karar kayıt altında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Tüm dokümantasyon Türkçe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88536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Sürekli Entegrasyon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En az haftalık commit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500+ otomatik test yeşil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Her katkı gözden geçirilir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3273552"/>
            <a:ext cx="3593592" cy="270662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10144" y="3273552"/>
            <a:ext cx="3593592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84464" y="3547872"/>
            <a:ext cx="31729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Dürüst Ölçüm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114800"/>
            <a:ext cx="3118104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Düzenli değerlendirme ölçümü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Tutulmuş (held-out) setler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Sonuçlar olduğu gibi raporlanır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KISA PROJE TANITIMI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Ne Geliştiriyoruz?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27632"/>
            <a:ext cx="11055096" cy="10607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73152" cy="1060704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55648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0">
                <a:solidFill>
                  <a:srgbClr val="EAEBEE"/>
                </a:solidFill>
                <a:latin typeface="Segoe UI"/>
              </a:rPr>
              <a:t>Kamu kurumlarına gelen evrağı </a:t>
            </a:r>
            <a:r>
              <a:rPr sz="1550" b="0">
                <a:solidFill>
                  <a:srgbClr val="C9CDD4"/>
                </a:solidFill>
                <a:latin typeface="Segoe UI Semibold"/>
              </a:rPr>
              <a:t>okuyan · anlayan · eksiğini bulan · mevzuat öneren · taslaklayan · yönlendiren</a:t>
            </a:r>
            <a:r>
              <a:rPr sz="1550" b="0">
                <a:solidFill>
                  <a:srgbClr val="EAEBEE"/>
                </a:solidFill>
                <a:latin typeface="Segoe UI"/>
              </a:rPr>
              <a:t> çok ajanlı bir yapay zekâ sistemi.</a:t>
            </a:r>
          </a:p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11 uzman ajan + orkestratör · framework bağımsız saf Python · çevrimdışı-öncelikli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Girdi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62148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36468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Orkestratör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31689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06009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Görev 1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101230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75550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Görev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370771" y="3182112"/>
            <a:ext cx="237744" cy="256032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45091" y="2962656"/>
            <a:ext cx="1976932" cy="694944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EAEBEE"/>
                </a:solidFill>
                <a:latin typeface="Segoe UI Semibold"/>
              </a:rPr>
              <a:t>12+ Çıktı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31920"/>
            <a:ext cx="5440680" cy="190195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544068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206240"/>
            <a:ext cx="5020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Görev 1 — Sınıflandırma &amp; İçerik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773168"/>
            <a:ext cx="4965192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Metin/PDF/görüntü okuma (OCR) + tür belirleme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Bilgi çıkarımı · eksik bilgi tespiti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Mevzuat önerisi · kısa özet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3931920"/>
            <a:ext cx="5440680" cy="1901952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81344" y="3931920"/>
            <a:ext cx="5440680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55664" y="4206240"/>
            <a:ext cx="50200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Görev 2 — Taslaklama &amp; Yönlendirme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773168"/>
            <a:ext cx="4965192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Resmî yazı taslağı (Yönetmelik uyumlu)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Gerekçeli birim yönlendirme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C9CDD4"/>
                </a:solidFill>
                <a:latin typeface="Segoe UI Semibold"/>
              </a:rPr>
              <a:t>—  </a:t>
            </a:r>
            <a:r>
              <a:rPr sz="1300" b="0">
                <a:solidFill>
                  <a:srgbClr val="989EA8"/>
                </a:solidFill>
                <a:latin typeface="Segoe UI"/>
              </a:rPr>
              <a:t>Kullanıcı bilgilendirme · eksik bilgi talebi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998464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989EA8"/>
                </a:solidFill>
                <a:latin typeface="Segoe UI"/>
              </a:rPr>
              <a:t>Ayrıntılı teknik mimari, kod ve canlı demo final aşamasında sunulacaktır.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KANITIMIZ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Bugüne Kadar Ne Ürettik?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Çalışan sistem · CLI + web arayüzü + 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92424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92424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500</a:t>
            </a:r>
            <a:r>
              <a:rPr sz="1600" b="0">
                <a:solidFill>
                  <a:srgbClr val="C9CDD4"/>
                </a:solidFill>
                <a:latin typeface="Segoe UI Semilight"/>
              </a:rPr>
              <a:t> 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Test — sürekli entegrasyonda yeşil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116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Etiketli sentetik kurgu evrak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1737360"/>
            <a:ext cx="2715768" cy="1417320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43416" y="1883664"/>
            <a:ext cx="73152" cy="112471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865376"/>
            <a:ext cx="2368296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0">
                <a:solidFill>
                  <a:srgbClr val="C9CDD4"/>
                </a:solidFill>
                <a:latin typeface="Segoe UI Semilight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6024" y="2441448"/>
            <a:ext cx="23134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KVKK sızıntısı (bağımsız denetim)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383280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83280"/>
            <a:ext cx="544068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584448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Geliştirme seti · 52 evrak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059936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Sınıflandırma doğruluğu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Birim yönlendirme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0,96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Eksik-bilgi tespiti (F1)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Mevzuat isabet@3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383280"/>
            <a:ext cx="5440680" cy="1975104"/>
          </a:xfrm>
          <a:prstGeom prst="roundRect">
            <a:avLst>
              <a:gd name="adj" fmla="val 5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0488" y="3383280"/>
            <a:ext cx="5440680" cy="73152"/>
          </a:xfrm>
          <a:prstGeom prst="rect">
            <a:avLst/>
          </a:prstGeom>
          <a:solidFill>
            <a:srgbClr val="5B61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3584448"/>
            <a:ext cx="50566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AEBEE"/>
                </a:solidFill>
                <a:latin typeface="Segoe UI Semibold"/>
              </a:rPr>
              <a:t>Adversarial tutulmuş set · 16 evrak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059936"/>
            <a:ext cx="502005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Sınıflandırma doğruluğu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0,94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Birim yönlendirme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1,00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Eksik-bilgi tespiti (F1)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0,83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89EA8"/>
                </a:solidFill>
                <a:latin typeface="Segoe UI"/>
              </a:rPr>
              <a:t>Mevzuat isabet@3   </a:t>
            </a:r>
            <a:r>
              <a:rPr sz="1300" b="0">
                <a:solidFill>
                  <a:srgbClr val="C9CDD4"/>
                </a:solidFill>
                <a:latin typeface="Segoe UI Semibold"/>
              </a:rPr>
              <a:t>0,94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504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89EA8"/>
                </a:solidFill>
                <a:latin typeface="Segoe UI Semibold"/>
              </a:rPr>
              <a:t>Kaynak: </a:t>
            </a:r>
            <a:r>
              <a:rPr sz="1150" b="0">
                <a:solidFill>
                  <a:srgbClr val="AAB0B9"/>
                </a:solidFill>
                <a:latin typeface="Consolas"/>
              </a:rPr>
              <a:t>eval_report*.json</a:t>
            </a:r>
            <a:r>
              <a:rPr sz="1150" b="0">
                <a:solidFill>
                  <a:srgbClr val="989EA8"/>
                </a:solidFill>
                <a:latin typeface="Segoe UI"/>
              </a:rPr>
              <a:t>  ·  tamamen çevrimdışı mod  ·  sonuçlar olduğu gibi raporlanır  ·  Apache 2.0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spc="320">
                <a:solidFill>
                  <a:srgbClr val="AAB0B9"/>
                </a:solidFill>
                <a:latin typeface="Segoe UI"/>
              </a:rPr>
              <a:t>NEDEN BURADAYIZ?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900" b="0" spc="30">
                <a:solidFill>
                  <a:srgbClr val="EAEBEE"/>
                </a:solidFill>
                <a:latin typeface="Segoe UI Semilight"/>
              </a:rPr>
              <a:t>Katılım Motivasyonumuz</a:t>
            </a:r>
          </a:p>
        </p:txBody>
      </p:sp>
      <p:pic>
        <p:nvPicPr>
          <p:cNvPr id="4" name="Picture 3" descr="agentra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6688" y="457200"/>
            <a:ext cx="1554480" cy="34987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Ölçülebilir verimlilik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İlk inceleme, taslak ve yönlendirme adımlarında personel zamanı kazanımı.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61104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5424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Veri egemenliği &amp; KVKK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5424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Kişisel veriyi 3. taraf API'ye sızdırmadan, tamamen yerel çalışan yerli çözüm.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45920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79" y="1645920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5681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Açık kaynak katkısı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78608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Türkçe dil teknolojileri ekosistemine (TAKP) Apache 2.0 lisanslı katkı.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712463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402335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Sorumlu otomasyon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" y="4645152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Emin olmadığı kararda durup insana devreden, gerekçeli ve denetlenebilir tasarım.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1A1C22"/>
          </a:solidFill>
          <a:ln w="15875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61104" y="3712463"/>
            <a:ext cx="3566160" cy="73152"/>
          </a:xfrm>
          <a:prstGeom prst="rect">
            <a:avLst/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5424" y="4023359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EAEBEE"/>
                </a:solidFill>
                <a:latin typeface="Segoe UI Semibold"/>
              </a:rPr>
              <a:t>Takımın ilgisi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4645152"/>
            <a:ext cx="307238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989EA8"/>
                </a:solidFill>
                <a:latin typeface="Segoe UI"/>
              </a:rPr>
              <a:t>Türkçe NLP ve kamu süreçlerine dair merak ve ortak çalışma isteği.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3712463"/>
            <a:ext cx="3566160" cy="1901952"/>
          </a:xfrm>
          <a:prstGeom prst="roundRect">
            <a:avLst>
              <a:gd name="adj" fmla="val 6000"/>
            </a:avLst>
          </a:prstGeom>
          <a:solidFill>
            <a:srgbClr val="C9C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3913632"/>
            <a:ext cx="312724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0">
                <a:solidFill>
                  <a:srgbClr val="14151A"/>
                </a:solidFill>
                <a:latin typeface="Segoe UI Semibold"/>
              </a:rPr>
              <a:t>Kamuya uygun yapay zekâ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4151A"/>
                </a:solidFill>
                <a:latin typeface="Segoe UI"/>
              </a:rPr>
              <a:t>“Her şeyi otomatikleştiren” değil; </a:t>
            </a:r>
            <a:r>
              <a:rPr sz="1300" b="1">
                <a:solidFill>
                  <a:srgbClr val="14151A"/>
                </a:solidFill>
                <a:latin typeface="Segoe UI Semibold"/>
              </a:rPr>
              <a:t>doğru yerde insana devreden</a:t>
            </a:r>
            <a:r>
              <a:rPr sz="1300" b="0">
                <a:solidFill>
                  <a:srgbClr val="14151A"/>
                </a:solidFill>
                <a:latin typeface="Segoe UI"/>
              </a:rPr>
              <a:t> bir sistem güven verir.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64240" cy="10972"/>
          </a:xfrm>
          <a:prstGeom prst="rect">
            <a:avLst/>
          </a:prstGeom>
          <a:solidFill>
            <a:srgbClr val="30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spc="200">
                <a:solidFill>
                  <a:srgbClr val="AAB0B9"/>
                </a:solidFill>
                <a:latin typeface="Segoe UI"/>
              </a:rPr>
              <a:t>AGENTRA TECH</a:t>
            </a:r>
            <a:r>
              <a:rPr sz="900" b="0">
                <a:solidFill>
                  <a:srgbClr val="989EA8"/>
                </a:solidFill>
                <a:latin typeface="Segoe UI"/>
              </a:rPr>
              <a:t>     TEKNOFEST 2026 · Yapay Zeka Dil Ajanları Yarışması · 1. Senaryo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10528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989EA8"/>
                </a:solidFill>
                <a:latin typeface="Segoe U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32688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0" spc="320">
                <a:solidFill>
                  <a:srgbClr val="AAB0B9"/>
                </a:solidFill>
                <a:latin typeface="Segoe UI"/>
              </a:rPr>
              <a:t>TEŞEKKÜRLER</a:t>
            </a:r>
          </a:p>
        </p:txBody>
      </p:sp>
      <p:pic>
        <p:nvPicPr>
          <p:cNvPr id="3" name="Picture 2" descr="agen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17320"/>
            <a:ext cx="5486400" cy="19335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39312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89EA8"/>
                </a:solidFill>
                <a:latin typeface="Segoe UI"/>
              </a:rPr>
              <a:t>Organizasyon yapısı, ekip ve görev dağılımıyla; kamuya uygun bir yapay zekâ takımı.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98167" y="4443984"/>
            <a:ext cx="8595360" cy="676656"/>
          </a:xfrm>
          <a:prstGeom prst="roundRect">
            <a:avLst>
              <a:gd name="adj" fmla="val 8000"/>
            </a:avLst>
          </a:prstGeom>
          <a:solidFill>
            <a:srgbClr val="1A1C22"/>
          </a:solidFill>
          <a:ln w="12700">
            <a:solidFill>
              <a:srgbClr val="30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98167" y="4599432"/>
            <a:ext cx="859536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AAB0B9"/>
                </a:solidFill>
                <a:latin typeface="Segoe UI Semibold"/>
              </a:rPr>
              <a:t>Depo:  </a:t>
            </a:r>
            <a:r>
              <a:rPr sz="1350" b="0">
                <a:solidFill>
                  <a:srgbClr val="EAEBEE"/>
                </a:solidFill>
                <a:latin typeface="Consolas"/>
              </a:rPr>
              <a:t>github.com/msgxr/teknofest-2026-kamu-evrak-akilli-ajan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989EA8"/>
                </a:solidFill>
                <a:latin typeface="Segoe UI"/>
              </a:rPr>
              <a:t>Kamuya uygun, dürüst, açık kaynak ve </a:t>
            </a:r>
            <a:r>
              <a:rPr sz="1500" b="0">
                <a:solidFill>
                  <a:srgbClr val="EAEBEE"/>
                </a:solidFill>
                <a:latin typeface="Segoe UI Semibold"/>
              </a:rPr>
              <a:t>bugün çalışan</a:t>
            </a:r>
            <a:r>
              <a:rPr sz="1500" b="0">
                <a:solidFill>
                  <a:srgbClr val="989EA8"/>
                </a:solidFill>
                <a:latin typeface="Segoe UI"/>
              </a:rPr>
              <a:t> bir sistem geliştiren bir takımız.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AGENTRA TECH — Takım Tanıtım Sunumu (TEKNOFEST 2026 TYDA · 1. Senaryo)</dc:title>
  <dc:subject/>
  <dc:creator>AGENTRA TECH</dc:creator>
  <cp:keywords/>
  <dc:description>generated using python-pptx</dc:description>
  <cp:lastModifiedBy>AGENTRA TECH</cp:lastModifiedBy>
  <cp:revision>1</cp:revision>
  <dcterms:created xsi:type="dcterms:W3CDTF">2013-01-27T09:14:16Z</dcterms:created>
  <dcterms:modified xsi:type="dcterms:W3CDTF">2013-01-27T09:15:58Z</dcterms:modified>
  <cp:category/>
</cp:coreProperties>
</file>