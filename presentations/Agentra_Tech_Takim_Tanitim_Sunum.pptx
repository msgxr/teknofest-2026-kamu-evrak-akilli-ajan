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896112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0" spc="300">
                <a:solidFill>
                  <a:srgbClr val="AAB0B9"/>
                </a:solidFill>
                <a:latin typeface="Segoe UI"/>
              </a:rPr>
              <a:t>TEKNOFEST 2026 · YAPAY ZEKA DİL AJANLARI YARIŞMASI</a:t>
            </a:r>
          </a:p>
        </p:txBody>
      </p:sp>
      <p:pic>
        <p:nvPicPr>
          <p:cNvPr id="3" name="Picture 2" descr="agen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417320"/>
            <a:ext cx="5486400" cy="19335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639312"/>
            <a:ext cx="121916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0" spc="50">
                <a:solidFill>
                  <a:srgbClr val="EAEBEE"/>
                </a:solidFill>
                <a:latin typeface="Segoe UI Semilight"/>
              </a:rPr>
              <a:t>Takım Tanıtım Sunumu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989EA8"/>
                </a:solidFill>
                <a:latin typeface="Segoe UI"/>
              </a:rPr>
              <a:t>Kamu Evrak ve Yazışma Süreçleri için Akıllı Agent Destek Sistemi · 1. Senaryo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29203" y="5138928"/>
            <a:ext cx="2066543" cy="438912"/>
          </a:xfrm>
          <a:prstGeom prst="roundRect">
            <a:avLst>
              <a:gd name="adj" fmla="val 50000"/>
            </a:avLst>
          </a:prstGeom>
          <a:solidFill>
            <a:srgbClr val="1A1C22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0B9"/>
                </a:solidFill>
                <a:latin typeface="Segoe UI Semibold"/>
              </a:rPr>
              <a:t>4 Üye · 1 Kaptan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5203" y="5138928"/>
            <a:ext cx="1664208" cy="438912"/>
          </a:xfrm>
          <a:prstGeom prst="roundRect">
            <a:avLst>
              <a:gd name="adj" fmla="val 50000"/>
            </a:avLst>
          </a:prstGeom>
          <a:solidFill>
            <a:srgbClr val="1A1C22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0B9"/>
                </a:solidFill>
                <a:latin typeface="Segoe UI Semibold"/>
              </a:rPr>
              <a:t>Kuruluş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98867" y="5138928"/>
            <a:ext cx="1563624" cy="438912"/>
          </a:xfrm>
          <a:prstGeom prst="roundRect">
            <a:avLst>
              <a:gd name="adj" fmla="val 50000"/>
            </a:avLst>
          </a:prstGeom>
          <a:solidFill>
            <a:srgbClr val="1A1C22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B0B9"/>
                </a:solidFill>
                <a:latin typeface="Segoe UI Semibold"/>
              </a:rPr>
              <a:t>Açık Kaynak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61888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AAB0B9"/>
                </a:solidFill>
                <a:latin typeface="Segoe UI"/>
              </a:rPr>
              <a:t>Takım Kaptanı: Şeyma Nur Çebi</a:t>
            </a:r>
            <a:r>
              <a:rPr sz="1400" b="0">
                <a:solidFill>
                  <a:srgbClr val="989EA8"/>
                </a:solidFill>
                <a:latin typeface="Segoe UI"/>
              </a:rPr>
              <a:t>     ·    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spc="320">
                <a:solidFill>
                  <a:srgbClr val="AAB0B9"/>
                </a:solidFill>
                <a:latin typeface="Segoe UI"/>
              </a:rPr>
              <a:t>TAKIMIMIZ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0" spc="30">
                <a:solidFill>
                  <a:srgbClr val="EAEBEE"/>
                </a:solidFill>
                <a:latin typeface="Segoe UI Semilight"/>
              </a:rPr>
              <a:t>Kısaca Biz</a:t>
            </a:r>
          </a:p>
        </p:txBody>
      </p:sp>
      <p:pic>
        <p:nvPicPr>
          <p:cNvPr id="4" name="Picture 3" descr="agentra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457200"/>
            <a:ext cx="1554480" cy="3498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737360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73152" cy="112471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65376"/>
            <a:ext cx="181051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CDD4"/>
                </a:solidFill>
                <a:latin typeface="Segoe UI Semiligh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41448"/>
            <a:ext cx="1755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Takım üyesi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5496" y="1737360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25496" y="1883664"/>
            <a:ext cx="73152" cy="112471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5" y="1865376"/>
            <a:ext cx="181051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CDD4"/>
                </a:solidFill>
                <a:latin typeface="Segoe UI Semiligh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3" y="2441448"/>
            <a:ext cx="1755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Takım kaptanı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737360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883664"/>
            <a:ext cx="73152" cy="112471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3" y="1865376"/>
            <a:ext cx="181051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CDD4"/>
                </a:solidFill>
                <a:latin typeface="Segoe UI Semilight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441448"/>
            <a:ext cx="1755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Kuruluş yılı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2631" y="1737360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42631" y="1883664"/>
            <a:ext cx="73152" cy="112471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1865376"/>
            <a:ext cx="181051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CDD4"/>
                </a:solidFill>
                <a:latin typeface="Segoe UI Semiligh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441448"/>
            <a:ext cx="1755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Farklı üniversite · 3 mühendislik dalı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737360"/>
            <a:ext cx="2157984" cy="141732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883664"/>
            <a:ext cx="73152" cy="112471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865376"/>
            <a:ext cx="181051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CDD4"/>
                </a:solidFill>
                <a:latin typeface="Segoe UI Semilight"/>
              </a:rPr>
              <a:t>Açık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441448"/>
            <a:ext cx="17556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Kaynak · Apache 2.0 · tamamı Türkçe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401568"/>
            <a:ext cx="11055096" cy="137160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401568"/>
            <a:ext cx="73152" cy="137160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639312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EAEBEE"/>
                </a:solidFill>
                <a:latin typeface="Segoe UI"/>
              </a:rPr>
              <a:t>Biz </a:t>
            </a:r>
            <a:r>
              <a:rPr sz="1650" b="0">
                <a:solidFill>
                  <a:srgbClr val="C9CDD4"/>
                </a:solidFill>
                <a:latin typeface="Segoe UI Semibold"/>
              </a:rPr>
              <a:t>AGENTRA TECH</a:t>
            </a:r>
            <a:r>
              <a:rPr sz="1600" b="0">
                <a:solidFill>
                  <a:srgbClr val="EAEBEE"/>
                </a:solidFill>
                <a:latin typeface="Segoe UI"/>
              </a:rPr>
              <a:t>; TEKNOFEST 2026 için bir araya gelen, </a:t>
            </a:r>
            <a:r>
              <a:rPr sz="1600" b="0">
                <a:solidFill>
                  <a:srgbClr val="C9CDD4"/>
                </a:solidFill>
                <a:latin typeface="Segoe UI Semibold"/>
              </a:rPr>
              <a:t>Türkçe dil teknolojileri ve akıllı ajan sistemleri</a:t>
            </a:r>
            <a:r>
              <a:rPr sz="1600" b="0">
                <a:solidFill>
                  <a:srgbClr val="EAEBEE"/>
                </a:solidFill>
                <a:latin typeface="Segoe UI"/>
              </a:rPr>
              <a:t> üzerine çalışan 4 kişilik bir öğrenci takımıyız.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50" b="0">
                <a:solidFill>
                  <a:srgbClr val="989EA8"/>
                </a:solidFill>
                <a:latin typeface="Segoe UI"/>
              </a:rPr>
              <a:t>Adımızın merkezinde “agent” var: kararları izlenebilir, tamamen açık kaynak bir sistem geliştiriyoruz.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2852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89EA8"/>
                </a:solidFill>
                <a:latin typeface="Segoe UI"/>
              </a:rPr>
              <a:t>Şartname m.3.1: bu sunum takımın organizasyon yapısını, ekip üyelerini ve görev dağılımını tanıtır.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30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spc="200">
                <a:solidFill>
                  <a:srgbClr val="AAB0B9"/>
                </a:solidFill>
                <a:latin typeface="Segoe UI"/>
              </a:rPr>
              <a:t>AGENTRA TECH</a:t>
            </a:r>
            <a:r>
              <a:rPr sz="900" b="0">
                <a:solidFill>
                  <a:srgbClr val="989EA8"/>
                </a:solidFill>
                <a:latin typeface="Segoe UI"/>
              </a:rPr>
              <a:t>     TEKNOFEST 2026 · Yapay Zeka Dil Ajanları Yarışması · 1. Senaryo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51052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89EA8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spc="320">
                <a:solidFill>
                  <a:srgbClr val="AAB0B9"/>
                </a:solidFill>
                <a:latin typeface="Segoe UI"/>
              </a:rPr>
              <a:t>KIMLIĞIMIZ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0" spc="30">
                <a:solidFill>
                  <a:srgbClr val="EAEBEE"/>
                </a:solidFill>
                <a:latin typeface="Segoe UI Semilight"/>
              </a:rPr>
              <a:t>Kuruluşumuz, Amacımız ve Değerlerimiz</a:t>
            </a:r>
          </a:p>
        </p:txBody>
      </p:sp>
      <p:pic>
        <p:nvPicPr>
          <p:cNvPr id="4" name="Picture 3" descr="agentra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457200"/>
            <a:ext cx="1554480" cy="3498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664208"/>
            <a:ext cx="5806440" cy="420624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73152" cy="420624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EAEBEE"/>
                </a:solidFill>
                <a:latin typeface="Segoe UI Semibold"/>
              </a:rPr>
              <a:t>Kuruluş &amp; Amaç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14016"/>
            <a:ext cx="53949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C9CDD4"/>
                </a:solidFill>
                <a:latin typeface="Segoe UI Semibold"/>
              </a:rPr>
              <a:t>Kuruluş: </a:t>
            </a:r>
            <a:r>
              <a:rPr sz="1400" b="0">
                <a:solidFill>
                  <a:srgbClr val="EAEBEE"/>
                </a:solidFill>
                <a:latin typeface="Segoe UI Semibold"/>
              </a:rPr>
              <a:t>2026</a:t>
            </a:r>
            <a:r>
              <a:rPr sz="1300" b="0">
                <a:solidFill>
                  <a:srgbClr val="989EA8"/>
                </a:solidFill>
                <a:latin typeface="Segoe UI"/>
              </a:rPr>
              <a:t>   ·   4 kişilik öğrenci takımı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C9CDD4"/>
                </a:solidFill>
                <a:latin typeface="Segoe UI Semibold"/>
              </a:rPr>
              <a:t>Takım adı: </a:t>
            </a:r>
            <a:r>
              <a:rPr sz="1350" b="0">
                <a:solidFill>
                  <a:srgbClr val="EAEBEE"/>
                </a:solidFill>
                <a:latin typeface="Segoe UI"/>
              </a:rPr>
              <a:t>AGENTRA TECH — merkezinde “agent” (ajan) odağı vardır.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9CDD4"/>
                </a:solidFill>
                <a:latin typeface="Segoe UI Semibold"/>
              </a:rPr>
              <a:t>Amacımız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AEBEE"/>
                </a:solidFill>
                <a:latin typeface="Segoe UI"/>
              </a:rPr>
              <a:t>Kamu evrak ve yazışma süreçlerini okuyan, anlayan, eksiğini bulan, mevzuat öneren, resmî yazı taslaklayıp doğru birime yönlendiren; çok ajanlı, offline-first ve yerli bir yapay zekâ sistemiyle uçtan uca otomatikleştirmek.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92224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EAEBEE"/>
                </a:solidFill>
                <a:latin typeface="Segoe UI Semibold"/>
              </a:rPr>
              <a:t>Değerlerimiz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377440"/>
            <a:ext cx="5029200" cy="841248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377440"/>
            <a:ext cx="73152" cy="841248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3136" y="250545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EAEBEE"/>
                </a:solidFill>
                <a:latin typeface="Segoe UI Semibold"/>
              </a:rPr>
              <a:t>Güvenilirlik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2852928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89EA8"/>
                </a:solidFill>
                <a:latin typeface="Segoe UI"/>
              </a:rPr>
              <a:t>Her karar bir güven skoruyla gelir.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310128"/>
            <a:ext cx="5029200" cy="841248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3310128"/>
            <a:ext cx="73152" cy="841248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34381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EAEBEE"/>
                </a:solidFill>
                <a:latin typeface="Segoe UI Semibold"/>
              </a:rPr>
              <a:t>Şeffaflık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3785616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89EA8"/>
                </a:solidFill>
                <a:latin typeface="Segoe UI"/>
              </a:rPr>
              <a:t>Her öneri gerekçe ve madde dayanağı taşır.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242816"/>
            <a:ext cx="5029200" cy="841248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4242816"/>
            <a:ext cx="73152" cy="841248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6" y="437083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EAEBEE"/>
                </a:solidFill>
                <a:latin typeface="Segoe UI Semibold"/>
              </a:rPr>
              <a:t>Veri Koruması (KVKK)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4718304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89EA8"/>
                </a:solidFill>
                <a:latin typeface="Segoe UI"/>
              </a:rPr>
              <a:t>Kişisel veri sızdırılmaz; yerli ve offline.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5175504"/>
            <a:ext cx="5029200" cy="841248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5175504"/>
            <a:ext cx="73152" cy="841248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5303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EAEBEE"/>
                </a:solidFill>
                <a:latin typeface="Segoe UI Semibold"/>
              </a:rPr>
              <a:t>Dürüstlük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565099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89EA8"/>
                </a:solidFill>
                <a:latin typeface="Segoe UI"/>
              </a:rPr>
              <a:t>Ölçümler ne çıkarsa olduğu gibi raporlanır.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30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spc="200">
                <a:solidFill>
                  <a:srgbClr val="AAB0B9"/>
                </a:solidFill>
                <a:latin typeface="Segoe UI"/>
              </a:rPr>
              <a:t>AGENTRA TECH</a:t>
            </a:r>
            <a:r>
              <a:rPr sz="900" b="0">
                <a:solidFill>
                  <a:srgbClr val="989EA8"/>
                </a:solidFill>
                <a:latin typeface="Segoe UI"/>
              </a:rPr>
              <a:t>     TEKNOFEST 2026 · Yapay Zeka Dil Ajanları Yarışması · 1. Senaryo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51052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89EA8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spc="320">
                <a:solidFill>
                  <a:srgbClr val="AAB0B9"/>
                </a:solidFill>
                <a:latin typeface="Segoe UI"/>
              </a:rPr>
              <a:t>EKIP &amp; ORGANIZASYON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0" spc="30">
                <a:solidFill>
                  <a:srgbClr val="EAEBEE"/>
                </a:solidFill>
                <a:latin typeface="Segoe UI Semilight"/>
              </a:rPr>
              <a:t>Ekibimiz</a:t>
            </a:r>
          </a:p>
        </p:txBody>
      </p:sp>
      <p:pic>
        <p:nvPicPr>
          <p:cNvPr id="4" name="Picture 3" descr="agentra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457200"/>
            <a:ext cx="1554480" cy="3498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536192"/>
            <a:ext cx="5486400" cy="215798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91440" cy="2157984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to_sey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901952"/>
            <a:ext cx="783980" cy="1133856"/>
          </a:xfrm>
          <a:prstGeom prst="rect">
            <a:avLst/>
          </a:prstGeom>
          <a:ln w="9525">
            <a:solidFill>
              <a:srgbClr val="5B616B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865376" y="1847088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0">
                <a:solidFill>
                  <a:srgbClr val="EAEBEE"/>
                </a:solidFill>
                <a:latin typeface="Segoe UI Semibold"/>
              </a:rPr>
              <a:t>Şeyma Nur Çebi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2322576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CDD4"/>
                </a:solidFill>
                <a:latin typeface="Segoe UI Semibold"/>
              </a:rPr>
              <a:t>Yazılım Müh. · 3. Sınıf · Arel Üni.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2651760"/>
            <a:ext cx="2609697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TAKIM KAPTANI · YAZILIM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090672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Görev 1 içerik analizi: sınıflandırma, bilgi çıkarımı, mevzuat RAG; değerlendirme ve entegrasyon.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79222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4151A"/>
                </a:solidFill>
                <a:latin typeface="Segoe UI Semibold"/>
              </a:rPr>
              <a:t>★ KAPTAN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536192"/>
            <a:ext cx="5486400" cy="215798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536192"/>
            <a:ext cx="91440" cy="2157984"/>
          </a:xfrm>
          <a:prstGeom prst="rect">
            <a:avLst/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oto_s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901952"/>
            <a:ext cx="798559" cy="1133856"/>
          </a:xfrm>
          <a:prstGeom prst="rect">
            <a:avLst/>
          </a:prstGeom>
          <a:ln w="9525">
            <a:solidFill>
              <a:srgbClr val="5B616B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7443216" y="1847088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0">
                <a:solidFill>
                  <a:srgbClr val="EAEBEE"/>
                </a:solidFill>
                <a:latin typeface="Segoe UI Semibold"/>
              </a:rPr>
              <a:t>Muhammed Sina Gün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4" y="2322576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CDD4"/>
                </a:solidFill>
                <a:latin typeface="Segoe UI Semibold"/>
              </a:rPr>
              <a:t>Bilgisayar Müh. · 3. Sınıf · Arel Üni.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2651760"/>
            <a:ext cx="1175918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YAZILIM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90672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Mimari ve orkestrasyon; model-agnostik LLM katmanı; Görev 2 taslak üretimi (OCR, özet).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03904"/>
            <a:ext cx="5486400" cy="215798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03904"/>
            <a:ext cx="91440" cy="2157984"/>
          </a:xfrm>
          <a:prstGeom prst="rect">
            <a:avLst/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oto_em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169664"/>
            <a:ext cx="745105" cy="1133856"/>
          </a:xfrm>
          <a:prstGeom prst="rect">
            <a:avLst/>
          </a:prstGeom>
          <a:ln w="9525">
            <a:solidFill>
              <a:srgbClr val="5B616B"/>
            </a:solidFill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1865376" y="4114800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0">
                <a:solidFill>
                  <a:srgbClr val="EAEBEE"/>
                </a:solidFill>
                <a:latin typeface="Segoe UI Semibold"/>
              </a:rPr>
              <a:t>Emine Elik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3664" y="4590288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CDD4"/>
                </a:solidFill>
                <a:latin typeface="Segoe UI Semibold"/>
              </a:rPr>
              <a:t>Maden Müh. · 1. Sınıf · Cerrahpaşa Üni.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83664" y="4919472"/>
            <a:ext cx="2430475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VERİ · TEST · DOKÜMAN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358384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Veri seti ve etiketleme; test kapsamı; dokümantasyon; sunum ve demo; şartname uyumu.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803904"/>
            <a:ext cx="5486400" cy="215798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3803904"/>
            <a:ext cx="91440" cy="2157984"/>
          </a:xfrm>
          <a:prstGeom prst="rect">
            <a:avLst/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oto_zeyne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169664"/>
            <a:ext cx="594465" cy="1133856"/>
          </a:xfrm>
          <a:prstGeom prst="rect">
            <a:avLst/>
          </a:prstGeom>
          <a:ln w="9525">
            <a:solidFill>
              <a:srgbClr val="5B616B"/>
            </a:solidFill>
          </a:ln>
          <a:effectLst/>
        </p:spPr>
      </p:pic>
      <p:sp>
        <p:nvSpPr>
          <p:cNvPr id="30" name="TextBox 29"/>
          <p:cNvSpPr txBox="1"/>
          <p:nvPr/>
        </p:nvSpPr>
        <p:spPr>
          <a:xfrm>
            <a:off x="7443216" y="4114800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0">
                <a:solidFill>
                  <a:srgbClr val="EAEBEE"/>
                </a:solidFill>
                <a:latin typeface="Segoe UI Semibold"/>
              </a:rPr>
              <a:t>Zeynep Akel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4590288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CDD4"/>
                </a:solidFill>
                <a:latin typeface="Segoe UI Semibold"/>
              </a:rPr>
              <a:t>Yazılım Müh. · 3. Sınıf · Biruni Üni.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61504" y="4919472"/>
            <a:ext cx="1175918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YAZILIM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5358384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Görev 1 eksik bilgi; Görev 2 yönlendirme ve kullanıcı etkileşimi; triyaj, KVKK; web arayüzü.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0167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89EA8"/>
                </a:solidFill>
                <a:latin typeface="Segoe UI"/>
              </a:rPr>
              <a:t>Takım kaptanı Şeyma Nur Çebi ekibi koordine eder · her uzmanlık alanı bir sorumluya bağlıdır · 3 üniversite, 3 mühendislik dalı.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30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spc="200">
                <a:solidFill>
                  <a:srgbClr val="AAB0B9"/>
                </a:solidFill>
                <a:latin typeface="Segoe UI"/>
              </a:rPr>
              <a:t>AGENTRA TECH</a:t>
            </a:r>
            <a:r>
              <a:rPr sz="900" b="0">
                <a:solidFill>
                  <a:srgbClr val="989EA8"/>
                </a:solidFill>
                <a:latin typeface="Segoe UI"/>
              </a:rPr>
              <a:t>     TEKNOFEST 2026 · Yapay Zeka Dil Ajanları Yarışması · 1. Senaryo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51052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89EA8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spc="320">
                <a:solidFill>
                  <a:srgbClr val="AAB0B9"/>
                </a:solidFill>
                <a:latin typeface="Segoe UI"/>
              </a:rPr>
              <a:t>GÖREV DAĞILIMI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0" spc="30">
                <a:solidFill>
                  <a:srgbClr val="EAEBEE"/>
                </a:solidFill>
                <a:latin typeface="Segoe UI Semilight"/>
              </a:rPr>
              <a:t>Görev Dağılımımız · Şartname m.6.4</a:t>
            </a:r>
          </a:p>
        </p:txBody>
      </p:sp>
      <p:pic>
        <p:nvPicPr>
          <p:cNvPr id="4" name="Picture 3" descr="agentra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457200"/>
            <a:ext cx="1554480" cy="3498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572768"/>
            <a:ext cx="5486400" cy="3767328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486400" cy="512064"/>
          </a:xfrm>
          <a:prstGeom prst="roundRect">
            <a:avLst>
              <a:gd name="adj" fmla="val 5000"/>
            </a:avLst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20240"/>
            <a:ext cx="5486400" cy="146304"/>
          </a:xfrm>
          <a:prstGeom prst="rect">
            <a:avLst/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486400" cy="457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C9CDD4"/>
                </a:solidFill>
                <a:latin typeface="Segoe UI Semibold"/>
              </a:rPr>
              <a:t>GÖREV 1 — Sınıflandırma &amp; İçerik Analizi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408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OCR / metin okuma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313432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Sina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729484"/>
            <a:ext cx="5266944" cy="502920"/>
          </a:xfrm>
          <a:prstGeom prst="rect">
            <a:avLst/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8575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Tür belirleme (sınıflandırma)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830068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Şeyma Nur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374136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Bilgi çıkarımı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346703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Şeyma Nur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3762756"/>
            <a:ext cx="5266944" cy="502920"/>
          </a:xfrm>
          <a:prstGeom prst="rect">
            <a:avLst/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9077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Eksik bilgi tespiti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86334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Zeynep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07407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Mevzuat önerisi (BM25 RAG)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379976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Şeyma Nur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" y="4796027"/>
            <a:ext cx="5266944" cy="502920"/>
          </a:xfrm>
          <a:prstGeom prst="rect">
            <a:avLst/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924043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Özet oluşturma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896612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Sina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572768"/>
            <a:ext cx="5486400" cy="3767328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44768" y="1572768"/>
            <a:ext cx="5486400" cy="512064"/>
          </a:xfrm>
          <a:prstGeom prst="roundRect">
            <a:avLst>
              <a:gd name="adj" fmla="val 5000"/>
            </a:avLst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920240"/>
            <a:ext cx="5486400" cy="146304"/>
          </a:xfrm>
          <a:prstGeom prst="rect">
            <a:avLst/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572768"/>
            <a:ext cx="5486400" cy="45720"/>
          </a:xfrm>
          <a:prstGeom prst="rect">
            <a:avLst/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1609344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C9CDD4"/>
                </a:solidFill>
                <a:latin typeface="Segoe UI Semibold"/>
              </a:rPr>
              <a:t>GÖREV 2 — Taslaklama &amp; Yönlendirme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3408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Resmî yazı taslağı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07040" y="2313432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Sina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2729484"/>
            <a:ext cx="5266944" cy="502920"/>
          </a:xfrm>
          <a:prstGeom prst="rect">
            <a:avLst/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8575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Format öz-denetimi (üslup)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0" y="283006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Sina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374136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Birim yönlendirme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3346703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Zeynep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4496" y="3762756"/>
            <a:ext cx="5266944" cy="502920"/>
          </a:xfrm>
          <a:prstGeom prst="rect">
            <a:avLst/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389077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Kullanıcı bilgilendirme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24160" y="386334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Zeynep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407407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Eksik bilgi talebi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24160" y="4379976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Zeynep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4796027"/>
            <a:ext cx="5266944" cy="502920"/>
          </a:xfrm>
          <a:prstGeom prst="rect">
            <a:avLst/>
          </a:prstGeom>
          <a:solidFill>
            <a:srgbClr val="232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4924043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AEBEE"/>
                </a:solidFill>
                <a:latin typeface="Segoe UI"/>
              </a:rPr>
              <a:t>Altyapı: veri · test · doküman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5600" y="4896612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23262F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DD4"/>
                </a:solidFill>
                <a:latin typeface="Segoe UI Semibold"/>
              </a:rPr>
              <a:t>Emine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46811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89EA8"/>
                </a:solidFill>
                <a:latin typeface="Segoe UI"/>
              </a:rPr>
              <a:t>Her yetenek bir sorumluya ve gerçek bir kod modülüne bağlıdır.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30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spc="200">
                <a:solidFill>
                  <a:srgbClr val="AAB0B9"/>
                </a:solidFill>
                <a:latin typeface="Segoe UI"/>
              </a:rPr>
              <a:t>AGENTRA TECH</a:t>
            </a:r>
            <a:r>
              <a:rPr sz="900" b="0">
                <a:solidFill>
                  <a:srgbClr val="989EA8"/>
                </a:solidFill>
                <a:latin typeface="Segoe UI"/>
              </a:rPr>
              <a:t>     TEKNOFEST 2026 · Yapay Zeka Dil Ajanları Yarışması · 1. Senaryo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651052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89EA8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spc="320">
                <a:solidFill>
                  <a:srgbClr val="AAB0B9"/>
                </a:solidFill>
                <a:latin typeface="Segoe UI"/>
              </a:rPr>
              <a:t>ÇALIŞMA BIÇIMIMIZ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0" spc="30">
                <a:solidFill>
                  <a:srgbClr val="EAEBEE"/>
                </a:solidFill>
                <a:latin typeface="Segoe UI Semilight"/>
              </a:rPr>
              <a:t>Nasıl Çalışıyoruz?</a:t>
            </a:r>
          </a:p>
        </p:txBody>
      </p:sp>
      <p:pic>
        <p:nvPicPr>
          <p:cNvPr id="4" name="Picture 3" descr="agentra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457200"/>
            <a:ext cx="1554480" cy="3498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847088"/>
            <a:ext cx="1976932" cy="713232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Fikir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2148" y="2075688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6468" y="1847088"/>
            <a:ext cx="1976932" cy="713232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Geliştirme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31689" y="2075688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06009" y="1847088"/>
            <a:ext cx="1976932" cy="713232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Test &amp; Ölçüm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01230" y="2075688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75550" y="1847088"/>
            <a:ext cx="1976932" cy="713232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Dürüst Rapor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0771" y="2075688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45091" y="1847088"/>
            <a:ext cx="1976932" cy="713232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İyileştirme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72491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Her özellik; fikirden koda, otomatik testlere ve dürüst ölçüme kadar aynı döngüden geçer.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73552"/>
            <a:ext cx="3593592" cy="270662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73552"/>
            <a:ext cx="3593592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54787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Açık ve İzlenebilir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114800"/>
            <a:ext cx="3118104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Ortak GitHub deposu (Apache 2.0)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Her karar kayıt altında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Tüm dokümantasyon Türkçe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273552"/>
            <a:ext cx="3593592" cy="270662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8536" y="3273552"/>
            <a:ext cx="3593592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354787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Sürekli Entegrasyon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4114800"/>
            <a:ext cx="3118104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En az haftalık commit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500+ otomatik test yeşil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Her katkı gözden geçirilir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3273552"/>
            <a:ext cx="3593592" cy="270662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10144" y="3273552"/>
            <a:ext cx="3593592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354787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Dürüst Ölçüm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4114800"/>
            <a:ext cx="3118104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Düzenli değerlendirme ölçümü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Tutulmuş (held-out) setler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Sonuçlar olduğu gibi raporlanır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30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spc="200">
                <a:solidFill>
                  <a:srgbClr val="AAB0B9"/>
                </a:solidFill>
                <a:latin typeface="Segoe UI"/>
              </a:rPr>
              <a:t>AGENTRA TECH</a:t>
            </a:r>
            <a:r>
              <a:rPr sz="900" b="0">
                <a:solidFill>
                  <a:srgbClr val="989EA8"/>
                </a:solidFill>
                <a:latin typeface="Segoe UI"/>
              </a:rPr>
              <a:t>     TEKNOFEST 2026 · Yapay Zeka Dil Ajanları Yarışması · 1. Senaryo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51052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89EA8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spc="320">
                <a:solidFill>
                  <a:srgbClr val="AAB0B9"/>
                </a:solidFill>
                <a:latin typeface="Segoe UI"/>
              </a:rPr>
              <a:t>KISA PROJE TANITIMI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0" spc="30">
                <a:solidFill>
                  <a:srgbClr val="EAEBEE"/>
                </a:solidFill>
                <a:latin typeface="Segoe UI Semilight"/>
              </a:rPr>
              <a:t>Ne Geliştiriyoruz?</a:t>
            </a:r>
          </a:p>
        </p:txBody>
      </p:sp>
      <p:pic>
        <p:nvPicPr>
          <p:cNvPr id="4" name="Picture 3" descr="agentra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457200"/>
            <a:ext cx="1554480" cy="3498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627632"/>
            <a:ext cx="11055096" cy="106070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73152" cy="1060704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EAEBEE"/>
                </a:solidFill>
                <a:latin typeface="Segoe UI"/>
              </a:rPr>
              <a:t>Kamu kurumlarına gelen evrağı </a:t>
            </a:r>
            <a:r>
              <a:rPr sz="1550" b="0">
                <a:solidFill>
                  <a:srgbClr val="C9CDD4"/>
                </a:solidFill>
                <a:latin typeface="Segoe UI Semibold"/>
              </a:rPr>
              <a:t>okuyan · anlayan · eksiğini bulan · mevzuat öneren · taslaklayan · yönlendiren</a:t>
            </a:r>
            <a:r>
              <a:rPr sz="1550" b="0">
                <a:solidFill>
                  <a:srgbClr val="EAEBEE"/>
                </a:solidFill>
                <a:latin typeface="Segoe UI"/>
              </a:rPr>
              <a:t> çok ajanlı bir yapay zekâ sistemi.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11 uzman ajan + orkestratör · framework bağımsız saf Python · çevrimdışı-öncelikli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62656"/>
            <a:ext cx="1976932" cy="694944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Girdi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2148" y="3182112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6468" y="2962656"/>
            <a:ext cx="1976932" cy="694944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Orkestratör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31689" y="3182112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6009" y="2962656"/>
            <a:ext cx="1976932" cy="694944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Görev 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01230" y="3182112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5550" y="2962656"/>
            <a:ext cx="1976932" cy="694944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Görev 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0771" y="3182112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5091" y="2962656"/>
            <a:ext cx="1976932" cy="694944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EAEBEE"/>
                </a:solidFill>
                <a:latin typeface="Segoe UI Semibold"/>
              </a:rPr>
              <a:t>12+ Çıktı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5440680" cy="1901952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931920"/>
            <a:ext cx="5440680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206240"/>
            <a:ext cx="5020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Görev 1 — Sınıflandırma &amp; İçerik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773168"/>
            <a:ext cx="496519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Metin/PDF/görüntü okuma (OCR) + tür belirleme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Bilgi çıkarımı · eksik bilgi tespiti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Mevzuat önerisi · kısa özet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31920"/>
            <a:ext cx="5440680" cy="1901952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931920"/>
            <a:ext cx="5440680" cy="73152"/>
          </a:xfrm>
          <a:prstGeom prst="rect">
            <a:avLst/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4206240"/>
            <a:ext cx="5020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Görev 2 — Taslaklama &amp; Yönlendirme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773168"/>
            <a:ext cx="496519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Resmî yazı taslağı (Yönetmelik uyumlu)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Gerekçeli birim yönlendirme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C9CDD4"/>
                </a:solidFill>
                <a:latin typeface="Segoe UI Semibold"/>
              </a:rPr>
              <a:t>—  </a:t>
            </a:r>
            <a:r>
              <a:rPr sz="1300" b="0">
                <a:solidFill>
                  <a:srgbClr val="989EA8"/>
                </a:solidFill>
                <a:latin typeface="Segoe UI"/>
              </a:rPr>
              <a:t>Kullanıcı bilgilendirme · eksik bilgi talebi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9846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89EA8"/>
                </a:solidFill>
                <a:latin typeface="Segoe UI"/>
              </a:rPr>
              <a:t>Ayrıntılı teknik mimari, kod ve canlı demo final aşamasında sunulacaktır.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30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spc="200">
                <a:solidFill>
                  <a:srgbClr val="AAB0B9"/>
                </a:solidFill>
                <a:latin typeface="Segoe UI"/>
              </a:rPr>
              <a:t>AGENTRA TECH</a:t>
            </a:r>
            <a:r>
              <a:rPr sz="900" b="0">
                <a:solidFill>
                  <a:srgbClr val="989EA8"/>
                </a:solidFill>
                <a:latin typeface="Segoe UI"/>
              </a:rPr>
              <a:t>     TEKNOFEST 2026 · Yapay Zeka Dil Ajanları Yarışması · 1. Senaryo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51052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89EA8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spc="320">
                <a:solidFill>
                  <a:srgbClr val="AAB0B9"/>
                </a:solidFill>
                <a:latin typeface="Segoe UI"/>
              </a:rPr>
              <a:t>KANITIMIZ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0" spc="30">
                <a:solidFill>
                  <a:srgbClr val="EAEBEE"/>
                </a:solidFill>
                <a:latin typeface="Segoe UI Semilight"/>
              </a:rPr>
              <a:t>Bugüne Kadar Ne Ürettik?</a:t>
            </a:r>
          </a:p>
        </p:txBody>
      </p:sp>
      <p:pic>
        <p:nvPicPr>
          <p:cNvPr id="4" name="Picture 3" descr="agentra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457200"/>
            <a:ext cx="1554480" cy="3498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737360"/>
            <a:ext cx="2715768" cy="141732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73152" cy="112471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65376"/>
            <a:ext cx="23682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CDD4"/>
                </a:solidFill>
                <a:latin typeface="Segoe UI Semilight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41448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Çalışan sistem · CLI + web arayüzü +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1737360"/>
            <a:ext cx="2715768" cy="141732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2424" y="1883664"/>
            <a:ext cx="73152" cy="112471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865376"/>
            <a:ext cx="23682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CDD4"/>
                </a:solidFill>
                <a:latin typeface="Segoe UI Semilight"/>
              </a:rPr>
              <a:t>500</a:t>
            </a:r>
            <a:r>
              <a:rPr sz="1600" b="0">
                <a:solidFill>
                  <a:srgbClr val="C9CDD4"/>
                </a:solidFill>
                <a:latin typeface="Segoe UI Semilight"/>
              </a:rPr>
              <a:t>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441448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Test — sürekli entegrasyonda yeşil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715768" cy="141732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83664"/>
            <a:ext cx="73152" cy="112471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65376"/>
            <a:ext cx="23682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CDD4"/>
                </a:solidFill>
                <a:latin typeface="Segoe UI Semilight"/>
              </a:rPr>
              <a:t>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441448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Etiketli sentetik kurgu evrak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737360"/>
            <a:ext cx="2715768" cy="1417320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3416" y="1883664"/>
            <a:ext cx="73152" cy="112471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1865376"/>
            <a:ext cx="23682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CDD4"/>
                </a:solidFill>
                <a:latin typeface="Segoe UI Semilight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441448"/>
            <a:ext cx="2313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KVKK sızıntısı (bağımsız denetim)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83280"/>
            <a:ext cx="5440680" cy="197510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383280"/>
            <a:ext cx="5440680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584448"/>
            <a:ext cx="5056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AEBEE"/>
                </a:solidFill>
                <a:latin typeface="Segoe UI Semibold"/>
              </a:rPr>
              <a:t>Geliştirme seti · 52 evrak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059936"/>
            <a:ext cx="50200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89EA8"/>
                </a:solidFill>
                <a:latin typeface="Segoe UI"/>
              </a:rPr>
              <a:t>Sınıflandırma doğruluğu   </a:t>
            </a:r>
            <a:r>
              <a:rPr sz="1300" b="0">
                <a:solidFill>
                  <a:srgbClr val="C9CDD4"/>
                </a:solidFill>
                <a:latin typeface="Segoe UI Semibold"/>
              </a:rPr>
              <a:t>1,00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89EA8"/>
                </a:solidFill>
                <a:latin typeface="Segoe UI"/>
              </a:rPr>
              <a:t>Birim yönlendirme   </a:t>
            </a:r>
            <a:r>
              <a:rPr sz="1300" b="0">
                <a:solidFill>
                  <a:srgbClr val="C9CDD4"/>
                </a:solidFill>
                <a:latin typeface="Segoe UI Semibold"/>
              </a:rPr>
              <a:t>0,96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89EA8"/>
                </a:solidFill>
                <a:latin typeface="Segoe UI"/>
              </a:rPr>
              <a:t>Eksik-bilgi tespiti (F1)   </a:t>
            </a:r>
            <a:r>
              <a:rPr sz="1300" b="0">
                <a:solidFill>
                  <a:srgbClr val="C9CDD4"/>
                </a:solidFill>
                <a:latin typeface="Segoe UI Semibold"/>
              </a:rPr>
              <a:t>1,00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89EA8"/>
                </a:solidFill>
                <a:latin typeface="Segoe UI"/>
              </a:rPr>
              <a:t>Mevzuat isabet@3   </a:t>
            </a:r>
            <a:r>
              <a:rPr sz="1300" b="0">
                <a:solidFill>
                  <a:srgbClr val="C9CDD4"/>
                </a:solidFill>
                <a:latin typeface="Segoe UI Semibold"/>
              </a:rPr>
              <a:t>0,96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383280"/>
            <a:ext cx="5440680" cy="1975104"/>
          </a:xfrm>
          <a:prstGeom prst="roundRect">
            <a:avLst>
              <a:gd name="adj" fmla="val 5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3383280"/>
            <a:ext cx="5440680" cy="73152"/>
          </a:xfrm>
          <a:prstGeom prst="rect">
            <a:avLst/>
          </a:prstGeom>
          <a:solidFill>
            <a:srgbClr val="5B6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3584448"/>
            <a:ext cx="5056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AEBEE"/>
                </a:solidFill>
                <a:latin typeface="Segoe UI Semibold"/>
              </a:rPr>
              <a:t>Adversarial tutulmuş set · 16 evrak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4059936"/>
            <a:ext cx="50200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89EA8"/>
                </a:solidFill>
                <a:latin typeface="Segoe UI"/>
              </a:rPr>
              <a:t>Sınıflandırma doğruluğu   </a:t>
            </a:r>
            <a:r>
              <a:rPr sz="1300" b="0">
                <a:solidFill>
                  <a:srgbClr val="C9CDD4"/>
                </a:solidFill>
                <a:latin typeface="Segoe UI Semibold"/>
              </a:rPr>
              <a:t>0,94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89EA8"/>
                </a:solidFill>
                <a:latin typeface="Segoe UI"/>
              </a:rPr>
              <a:t>Birim yönlendirme   </a:t>
            </a:r>
            <a:r>
              <a:rPr sz="1300" b="0">
                <a:solidFill>
                  <a:srgbClr val="C9CDD4"/>
                </a:solidFill>
                <a:latin typeface="Segoe UI Semibold"/>
              </a:rPr>
              <a:t>1,00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89EA8"/>
                </a:solidFill>
                <a:latin typeface="Segoe UI"/>
              </a:rPr>
              <a:t>Eksik-bilgi tespiti (F1)   </a:t>
            </a:r>
            <a:r>
              <a:rPr sz="1300" b="0">
                <a:solidFill>
                  <a:srgbClr val="C9CDD4"/>
                </a:solidFill>
                <a:latin typeface="Segoe UI Semibold"/>
              </a:rPr>
              <a:t>0,83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89EA8"/>
                </a:solidFill>
                <a:latin typeface="Segoe UI"/>
              </a:rPr>
              <a:t>Mevzuat isabet@3   </a:t>
            </a:r>
            <a:r>
              <a:rPr sz="1300" b="0">
                <a:solidFill>
                  <a:srgbClr val="C9CDD4"/>
                </a:solidFill>
                <a:latin typeface="Segoe UI Semibold"/>
              </a:rPr>
              <a:t>0,94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504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89EA8"/>
                </a:solidFill>
                <a:latin typeface="Segoe UI Semibold"/>
              </a:rPr>
              <a:t>Kaynak: </a:t>
            </a:r>
            <a:r>
              <a:rPr sz="1150" b="0">
                <a:solidFill>
                  <a:srgbClr val="AAB0B9"/>
                </a:solidFill>
                <a:latin typeface="Consolas"/>
              </a:rPr>
              <a:t>eval_report*.json</a:t>
            </a:r>
            <a:r>
              <a:rPr sz="1150" b="0">
                <a:solidFill>
                  <a:srgbClr val="989EA8"/>
                </a:solidFill>
                <a:latin typeface="Segoe UI"/>
              </a:rPr>
              <a:t>  ·  tamamen çevrimdışı mod  ·  sonuçlar olduğu gibi raporlanır  ·  Apache 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30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spc="200">
                <a:solidFill>
                  <a:srgbClr val="AAB0B9"/>
                </a:solidFill>
                <a:latin typeface="Segoe UI"/>
              </a:rPr>
              <a:t>AGENTRA TECH</a:t>
            </a:r>
            <a:r>
              <a:rPr sz="900" b="0">
                <a:solidFill>
                  <a:srgbClr val="989EA8"/>
                </a:solidFill>
                <a:latin typeface="Segoe UI"/>
              </a:rPr>
              <a:t>     TEKNOFEST 2026 · Yapay Zeka Dil Ajanları Yarışması · 1. Senaryo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51052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89EA8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spc="320">
                <a:solidFill>
                  <a:srgbClr val="AAB0B9"/>
                </a:solidFill>
                <a:latin typeface="Segoe UI"/>
              </a:rPr>
              <a:t>NEDEN BURADAYIZ?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0" spc="30">
                <a:solidFill>
                  <a:srgbClr val="EAEBEE"/>
                </a:solidFill>
                <a:latin typeface="Segoe UI Semilight"/>
              </a:rPr>
              <a:t>Katılım Motivasyonumuz</a:t>
            </a:r>
          </a:p>
        </p:txBody>
      </p:sp>
      <p:pic>
        <p:nvPicPr>
          <p:cNvPr id="4" name="Picture 3" descr="agentra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457200"/>
            <a:ext cx="1554480" cy="3498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645920"/>
            <a:ext cx="3566160" cy="1901952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3566160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5681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Ölçülebilir verimlilik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78608"/>
            <a:ext cx="30723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İlk inceleme, taslak ve yönlendirme adımlarında personel zamanı kazanımı.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645920"/>
            <a:ext cx="3566160" cy="1901952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1104" y="1645920"/>
            <a:ext cx="3566160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95681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Veri egemenliği &amp; KVKK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578608"/>
            <a:ext cx="30723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Kişisel veriyi 3. taraf API'ye sızdırmadan, tamamen yerel çalışan yerli çözüm.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45920"/>
            <a:ext cx="3566160" cy="1901952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3566160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5681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Açık kaynak katkısı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78608"/>
            <a:ext cx="30723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Türkçe dil teknolojileri ekosistemine (TAKP) Apache 2.0 lisanslı katkı.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12463"/>
            <a:ext cx="3566160" cy="1901952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712463"/>
            <a:ext cx="3566160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02335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Sorumlu otomasyon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645152"/>
            <a:ext cx="30723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Emin olmadığı kararda durup insana devreden, gerekçeli ve denetlenebilir tasarım.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3712463"/>
            <a:ext cx="3566160" cy="1901952"/>
          </a:xfrm>
          <a:prstGeom prst="roundRect">
            <a:avLst>
              <a:gd name="adj" fmla="val 6000"/>
            </a:avLst>
          </a:prstGeom>
          <a:solidFill>
            <a:srgbClr val="1A1C22"/>
          </a:solidFill>
          <a:ln w="15875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3712463"/>
            <a:ext cx="3566160" cy="73152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402335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AEBEE"/>
                </a:solidFill>
                <a:latin typeface="Segoe UI Semibold"/>
              </a:rPr>
              <a:t>Takımın ilgisi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645152"/>
            <a:ext cx="30723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89EA8"/>
                </a:solidFill>
                <a:latin typeface="Segoe UI"/>
              </a:rPr>
              <a:t>Türkçe NLP ve kamu süreçlerine dair merak ve ortak çalışma isteği.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712463"/>
            <a:ext cx="3566160" cy="1901952"/>
          </a:xfrm>
          <a:prstGeom prst="roundRect">
            <a:avLst>
              <a:gd name="adj" fmla="val 6000"/>
            </a:avLst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3913632"/>
            <a:ext cx="312724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0">
                <a:solidFill>
                  <a:srgbClr val="14151A"/>
                </a:solidFill>
                <a:latin typeface="Segoe UI Semibold"/>
              </a:rPr>
              <a:t>Kamuya uygun yapay zekâ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4151A"/>
                </a:solidFill>
                <a:latin typeface="Segoe UI"/>
              </a:rPr>
              <a:t>“Her şeyi otomatikleştiren” değil; </a:t>
            </a:r>
            <a:r>
              <a:rPr sz="1300" b="1">
                <a:solidFill>
                  <a:srgbClr val="14151A"/>
                </a:solidFill>
                <a:latin typeface="Segoe UI Semibold"/>
              </a:rPr>
              <a:t>doğru yerde insana devreden</a:t>
            </a:r>
            <a:r>
              <a:rPr sz="1300" b="0">
                <a:solidFill>
                  <a:srgbClr val="14151A"/>
                </a:solidFill>
                <a:latin typeface="Segoe UI"/>
              </a:rPr>
              <a:t> bir sistem güven verir.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55664"/>
            <a:ext cx="11064240" cy="10972"/>
          </a:xfrm>
          <a:prstGeom prst="rect">
            <a:avLst/>
          </a:prstGeom>
          <a:solidFill>
            <a:srgbClr val="30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spc="200">
                <a:solidFill>
                  <a:srgbClr val="AAB0B9"/>
                </a:solidFill>
                <a:latin typeface="Segoe UI"/>
              </a:rPr>
              <a:t>AGENTRA TECH</a:t>
            </a:r>
            <a:r>
              <a:rPr sz="900" b="0">
                <a:solidFill>
                  <a:srgbClr val="989EA8"/>
                </a:solidFill>
                <a:latin typeface="Segoe UI"/>
              </a:rPr>
              <a:t>     TEKNOFEST 2026 · Yapay Zeka Dil Ajanları Yarışması · 1. Senaryo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51052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89EA8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32688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spc="320">
                <a:solidFill>
                  <a:srgbClr val="AAB0B9"/>
                </a:solidFill>
                <a:latin typeface="Segoe UI"/>
              </a:rPr>
              <a:t>TEŞEKKÜRLER</a:t>
            </a:r>
          </a:p>
        </p:txBody>
      </p:sp>
      <p:pic>
        <p:nvPicPr>
          <p:cNvPr id="3" name="Picture 2" descr="agen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417320"/>
            <a:ext cx="5486400" cy="19335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639312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989EA8"/>
                </a:solidFill>
                <a:latin typeface="Segoe UI"/>
              </a:rPr>
              <a:t>Organizasyon yapısı, ekip ve görev dağılımıyla; kamuya uygun bir yapay zekâ takımı.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98167" y="4443984"/>
            <a:ext cx="8595360" cy="676656"/>
          </a:xfrm>
          <a:prstGeom prst="roundRect">
            <a:avLst>
              <a:gd name="adj" fmla="val 8000"/>
            </a:avLst>
          </a:prstGeom>
          <a:solidFill>
            <a:srgbClr val="1A1C22"/>
          </a:solidFill>
          <a:ln w="12700">
            <a:solidFill>
              <a:srgbClr val="30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98167" y="4599432"/>
            <a:ext cx="8595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AAB0B9"/>
                </a:solidFill>
                <a:latin typeface="Segoe UI Semibold"/>
              </a:rPr>
              <a:t>Depo:  </a:t>
            </a:r>
            <a:r>
              <a:rPr sz="1350" b="0">
                <a:solidFill>
                  <a:srgbClr val="EAEBEE"/>
                </a:solidFill>
                <a:latin typeface="Consolas"/>
              </a:rPr>
              <a:t>github.com/msgxr/teknofest-2026-kamu-evrak-akilli-ajan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321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989EA8"/>
                </a:solidFill>
                <a:latin typeface="Segoe UI"/>
              </a:rPr>
              <a:t>Kamuya uygun, dürüst, açık kaynak ve </a:t>
            </a:r>
            <a:r>
              <a:rPr sz="1500" b="0">
                <a:solidFill>
                  <a:srgbClr val="EAEBEE"/>
                </a:solidFill>
                <a:latin typeface="Segoe UI Semibold"/>
              </a:rPr>
              <a:t>bugün çalışan</a:t>
            </a:r>
            <a:r>
              <a:rPr sz="1500" b="0">
                <a:solidFill>
                  <a:srgbClr val="989EA8"/>
                </a:solidFill>
                <a:latin typeface="Segoe UI"/>
              </a:rPr>
              <a:t> bir sistem geliştiren bir takımız.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AGENTRA TECH — Takım Tanıtım Sunumu (TEKNOFEST 2026 TYDA · 1. Senaryo)</dc:title>
  <dc:subject/>
  <dc:creator>AGENTRA TECH</dc:creator>
  <cp:keywords/>
  <dc:description>generated using python-pptx</dc:description>
  <cp:lastModifiedBy>AGENTRA TECH</cp:lastModifiedBy>
  <cp:revision>1</cp:revision>
  <dcterms:created xsi:type="dcterms:W3CDTF">2013-01-27T09:14:16Z</dcterms:created>
  <dcterms:modified xsi:type="dcterms:W3CDTF">2013-01-27T09:15:58Z</dcterms:modified>
  <cp:category/>
</cp:coreProperties>
</file>