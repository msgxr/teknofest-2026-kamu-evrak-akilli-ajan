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158984" y="923544"/>
            <a:ext cx="1097279" cy="41148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58984" y="923544"/>
            <a:ext cx="640079" cy="123444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58984" y="923544"/>
            <a:ext cx="1463040" cy="169164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9793224" y="923544"/>
            <a:ext cx="365760" cy="100584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799063" y="1335024"/>
            <a:ext cx="457200" cy="82296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256263" y="1335024"/>
            <a:ext cx="365761" cy="128016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793224" y="1335024"/>
            <a:ext cx="1463039" cy="59436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799063" y="2157984"/>
            <a:ext cx="822961" cy="45720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9793224" y="1929384"/>
            <a:ext cx="1005839" cy="22860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793224" y="1929384"/>
            <a:ext cx="1828800" cy="685800"/>
          </a:xfrm>
          <a:prstGeom prst="line">
            <a:avLst/>
          </a:prstGeom>
          <a:ln w="9525">
            <a:solidFill>
              <a:srgbClr val="2A3E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058400" y="82296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0" y="123444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98480" y="205740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521440" y="251460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92640" y="1828800"/>
            <a:ext cx="201168" cy="201168"/>
          </a:xfrm>
          <a:prstGeom prst="ellipse">
            <a:avLst/>
          </a:prstGeom>
          <a:solidFill>
            <a:srgbClr val="35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FB0E8"/>
                </a:solidFill>
                <a:latin typeface="Segoe UI Semibold"/>
              </a:rPr>
              <a:t>TEKNOFEST 2026 · YAPAY ZEKA DİL AJANLARI YARIŞMASI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1828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FFFFFF"/>
                </a:solidFill>
                <a:latin typeface="Segoe UI Semibold"/>
              </a:rPr>
              <a:t>AGENTRA TECH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536" y="2907792"/>
            <a:ext cx="2926080" cy="457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12724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100" b="0">
                <a:solidFill>
                  <a:srgbClr val="E7ECF6"/>
                </a:solidFill>
                <a:latin typeface="Segoe UI"/>
              </a:rPr>
              <a:t>Kamu Evrak ve Yazışma Süreçleri için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Akıllı Agent Destek Sistemi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9204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FD0EC"/>
                </a:solidFill>
                <a:latin typeface="Segoe UI Semibold"/>
              </a:rPr>
              <a:t>1. Senaryo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04288" y="4892040"/>
            <a:ext cx="2803550" cy="384048"/>
          </a:xfrm>
          <a:prstGeom prst="roundRect">
            <a:avLst>
              <a:gd name="adj" fmla="val 5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FD0EC"/>
                </a:solidFill>
                <a:latin typeface="Segoe UI Semibold"/>
              </a:rPr>
              <a:t>11 Uzman Ajan + Orkestratör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9006" y="4892040"/>
            <a:ext cx="1548993" cy="384048"/>
          </a:xfrm>
          <a:prstGeom prst="roundRect">
            <a:avLst>
              <a:gd name="adj" fmla="val 5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FD0EC"/>
                </a:solidFill>
                <a:latin typeface="Segoe UI Semibold"/>
              </a:rPr>
              <a:t>Offline-First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59168" y="489204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FD0EC"/>
                </a:solidFill>
                <a:latin typeface="Segoe UI Semibold"/>
              </a:rPr>
              <a:t>Apache 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15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EC2E6"/>
                </a:solidFill>
                <a:latin typeface="Segoe UI Semibold"/>
              </a:rPr>
              <a:t>Takım Tanıtım Sunumu</a:t>
            </a:r>
            <a:r>
              <a:rPr sz="1250" b="0">
                <a:solidFill>
                  <a:srgbClr val="8296B6"/>
                </a:solidFill>
                <a:latin typeface="Segoe UI"/>
              </a:rPr>
              <a:t>   ·   Temmuz 2026   ·   Takım Kaptanı: Şeyma Nur Çebi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BIR BAKIŞTA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Bir Bakışta AGENTRA TECH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728216"/>
            <a:ext cx="64008" cy="1161288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64792"/>
            <a:ext cx="1883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6C3FD1"/>
                </a:solidFill>
                <a:latin typeface="Segoe UI Semibold"/>
              </a:rPr>
              <a:t>11</a:t>
            </a:r>
            <a:r>
              <a:rPr sz="1300" b="1">
                <a:solidFill>
                  <a:srgbClr val="6C3FD1"/>
                </a:solidFill>
                <a:latin typeface="Segoe UI Semibold"/>
              </a:rPr>
              <a:t> +1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359152"/>
            <a:ext cx="1828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Uzman ajan + orkestratör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25496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25496" y="1728216"/>
            <a:ext cx="64008" cy="1161288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4" y="1764792"/>
            <a:ext cx="1883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B6FC2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359152"/>
            <a:ext cx="1828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Zorunlu görev, tek uçtan uca akış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84064" y="1728216"/>
            <a:ext cx="64008" cy="1161288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1" y="1764792"/>
            <a:ext cx="1883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2F9E44"/>
                </a:solidFill>
                <a:latin typeface="Segoe UI Semibold"/>
              </a:rPr>
              <a:t>500</a:t>
            </a:r>
            <a:r>
              <a:rPr sz="1300" b="1">
                <a:solidFill>
                  <a:srgbClr val="2F9E44"/>
                </a:solidFill>
                <a:latin typeface="Segoe UI Semibold"/>
              </a:rPr>
              <a:t>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359152"/>
            <a:ext cx="1828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Test — sürekli entegrasyonda yeşil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42631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42631" y="1728216"/>
            <a:ext cx="64008" cy="116128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1764792"/>
            <a:ext cx="1883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8590C"/>
                </a:solidFill>
                <a:latin typeface="Segoe UI Semibold"/>
              </a:rPr>
              <a:t>116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2088" y="2359152"/>
            <a:ext cx="1828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Etiketli sentetik kurgu evrak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600200"/>
            <a:ext cx="2157984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728216"/>
            <a:ext cx="64008" cy="116128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02368" y="1764792"/>
            <a:ext cx="1883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C8102E"/>
                </a:solidFill>
                <a:latin typeface="Segoe UI Semibold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0656" y="2359152"/>
            <a:ext cx="1828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A2233"/>
                </a:solidFill>
                <a:latin typeface="Segoe UI"/>
              </a:rPr>
              <a:t>KVKK sızıntısı (bağımsız denetim)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10128"/>
            <a:ext cx="11055096" cy="1051560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 w="1270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10128"/>
            <a:ext cx="82296" cy="10515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456432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A2233"/>
                </a:solidFill>
                <a:latin typeface="Segoe UI"/>
              </a:rPr>
              <a:t>Kamu kurumlarına gelen evrağı </a:t>
            </a:r>
            <a:r>
              <a:rPr sz="1450" b="1">
                <a:solidFill>
                  <a:srgbClr val="1A2233"/>
                </a:solidFill>
                <a:latin typeface="Segoe UI Semibold"/>
              </a:rPr>
              <a:t>okuyan · anlayan · eksiğini bulan · mevzuat öneren · resmî yazı taslaklayan · doğru birime yönlendiren</a:t>
            </a:r>
            <a:r>
              <a:rPr sz="1450" b="0">
                <a:solidFill>
                  <a:srgbClr val="1A2233"/>
                </a:solidFill>
                <a:latin typeface="Segoe UI"/>
              </a:rPr>
              <a:t> çok ajanlı bir sistem geliştirdik.</a:t>
            </a:r>
          </a:p>
          <a:p>
            <a:pPr algn="l">
              <a:spcBef>
                <a:spcPts val="300"/>
              </a:spcBef>
              <a:spcAft>
                <a:spcPts val="200"/>
              </a:spcAft>
            </a:pPr>
            <a:r>
              <a:rPr sz="1250" b="0">
                <a:solidFill>
                  <a:srgbClr val="5B6B85"/>
                </a:solidFill>
                <a:latin typeface="Segoe UI"/>
              </a:rPr>
              <a:t>Çalışan hâli bugün elimizde — “hedefliyoruz” değil, </a:t>
            </a:r>
            <a:r>
              <a:rPr sz="1250" b="1">
                <a:solidFill>
                  <a:srgbClr val="C8102E"/>
                </a:solidFill>
                <a:latin typeface="Segoe UI Semibold"/>
              </a:rPr>
              <a:t>çalışıyor.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709160"/>
            <a:ext cx="1993392" cy="603504"/>
          </a:xfrm>
          <a:prstGeom prst="roundRect">
            <a:avLst>
              <a:gd name="adj" fmla="val 16000"/>
            </a:avLst>
          </a:prstGeom>
          <a:solidFill>
            <a:srgbClr val="41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📥 Girdi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505456" y="4873752"/>
            <a:ext cx="274320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816352" y="4709160"/>
            <a:ext cx="1993392" cy="603504"/>
          </a:xfrm>
          <a:prstGeom prst="roundRect">
            <a:avLst>
              <a:gd name="adj" fmla="val 16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🧠 Orkestratör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754880" y="4873752"/>
            <a:ext cx="274320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65776" y="4709160"/>
            <a:ext cx="1993392" cy="603504"/>
          </a:xfrm>
          <a:prstGeom prst="roundRect">
            <a:avLst>
              <a:gd name="adj" fmla="val 16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📋 Görev 1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004304" y="4873752"/>
            <a:ext cx="274320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15200" y="4709160"/>
            <a:ext cx="1993392" cy="603504"/>
          </a:xfrm>
          <a:prstGeom prst="roundRect">
            <a:avLst>
              <a:gd name="adj" fmla="val 16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✍️ Görev 2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253728" y="4873752"/>
            <a:ext cx="274320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564624" y="4709160"/>
            <a:ext cx="1993392" cy="603504"/>
          </a:xfrm>
          <a:prstGeom prst="roundRect">
            <a:avLst>
              <a:gd name="adj" fmla="val 16000"/>
            </a:avLst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📤 12+ Çıktı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532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B85"/>
                </a:solidFill>
                <a:latin typeface="Segoe UI"/>
              </a:rPr>
              <a:t>Framework bağımsız saf Python orkestrasyon · çevrimdışı-öncelikli · isteğe bağlı LLM eskalasyonu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TAKIM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Takım Üyeleri ve Rolleri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5486400" cy="18836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100584" cy="1883664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828800"/>
            <a:ext cx="658368" cy="658368"/>
          </a:xfrm>
          <a:prstGeom prst="ellipse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179222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A2233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5919" y="2176272"/>
            <a:ext cx="2181758" cy="274320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TAKIM KAPTANI · YAZILIM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615184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34405A"/>
                </a:solidFill>
                <a:latin typeface="Segoe UI"/>
              </a:rPr>
              <a:t>Görev 1 içerik analizi: sınıflandırma, bilgi çıkarımı, mevzuat RAG; değerlendirme ve uçtan uca entegrasyon.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1768" y="175564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 Semibold"/>
              </a:rPr>
              <a:t>★ KAPTAN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572768"/>
            <a:ext cx="5486400" cy="18836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1572768"/>
            <a:ext cx="100584" cy="1883664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0" y="1828800"/>
            <a:ext cx="658368" cy="658368"/>
          </a:xfrm>
          <a:prstGeom prst="ellipse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59" y="179222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A2233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59" y="2176272"/>
            <a:ext cx="982065" cy="274320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YAZILIM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615184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34405A"/>
                </a:solidFill>
                <a:latin typeface="Segoe UI"/>
              </a:rPr>
              <a:t>Mimari ve orkestrasyon; model-agnostik LLM katmanı; Görev 2 taslak üretimi (OCR ve özet dâhil).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602736"/>
            <a:ext cx="5486400" cy="18836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602736"/>
            <a:ext cx="100584" cy="188366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2960" y="3858768"/>
            <a:ext cx="658368" cy="658368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19" y="3822191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A2233"/>
                </a:solidFill>
                <a:latin typeface="Segoe UI Semibold"/>
              </a:rPr>
              <a:t>Emine Elik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45919" y="4206240"/>
            <a:ext cx="2031796" cy="27432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VERİ · TEST · DOKÜMAN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645152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34405A"/>
                </a:solidFill>
                <a:latin typeface="Segoe UI"/>
              </a:rPr>
              <a:t>Veri seti ve etiketleme; test kapsamı; dokümantasyon; sunum ve demo; şartname uyum takibi.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3602736"/>
            <a:ext cx="5486400" cy="18836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3602736"/>
            <a:ext cx="100584" cy="1883664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0" y="3858768"/>
            <a:ext cx="658368" cy="658368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59" y="3822191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A2233"/>
                </a:solidFill>
                <a:latin typeface="Segoe UI Semibold"/>
              </a:rPr>
              <a:t>Zeynep Akel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59" y="4206240"/>
            <a:ext cx="982065" cy="27432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YAZILIM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645152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34405A"/>
                </a:solidFill>
                <a:latin typeface="Segoe UI"/>
              </a:rPr>
              <a:t>Görev 1 eksik bilgi tespiti; Görev 2 yönlendirme ve kullanıcı etkileşimi; triyaj, KVKK; web arayüzü.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65099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B85"/>
                </a:solidFill>
                <a:latin typeface="Segoe UI"/>
              </a:rPr>
              <a:t>Her üye için okul/bölüm bilgisi: </a:t>
            </a:r>
            <a:r>
              <a:rPr sz="1050" b="0">
                <a:solidFill>
                  <a:srgbClr val="C8102E"/>
                </a:solidFill>
                <a:latin typeface="Segoe UI"/>
              </a:rPr>
              <a:t>[Bölüm / Üniversite — doldurulacak]</a:t>
            </a:r>
            <a:r>
              <a:rPr sz="1050" b="0">
                <a:solidFill>
                  <a:srgbClr val="5B6B85"/>
                </a:solidFill>
                <a:latin typeface="Segoe UI"/>
              </a:rPr>
              <a:t>      Danışman: </a:t>
            </a:r>
            <a:r>
              <a:rPr sz="1050" b="0">
                <a:solidFill>
                  <a:srgbClr val="C8102E"/>
                </a:solidFill>
                <a:latin typeface="Segoe UI"/>
              </a:rPr>
              <a:t>[Ad Soyad — Unvan/Kurum · varsa]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ORGANIZASYON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Görev Dağılımı · Şartname m.6.4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36192"/>
            <a:ext cx="548640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36192"/>
            <a:ext cx="5486400" cy="457200"/>
          </a:xfrm>
          <a:prstGeom prst="roundRect">
            <a:avLst>
              <a:gd name="adj" fmla="val 5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GÖREV 1 — Sınıflandırma &amp; İçerik Analizi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486400" cy="146304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79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OCR / metin okuma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2231136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" y="2638044"/>
            <a:ext cx="5266944" cy="4572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38627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Tür belirleme (sınıflandırma)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9724" y="2729484"/>
            <a:ext cx="1147572" cy="292608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5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Bilgi çıkarımı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9724" y="3227832"/>
            <a:ext cx="1147572" cy="292608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3634739"/>
            <a:ext cx="5266944" cy="4572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35324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Eksik bilgi tespiti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3726179"/>
            <a:ext cx="886968" cy="292608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33672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Mevzuat önerisi (BM25 RAG)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49724" y="4224527"/>
            <a:ext cx="1147572" cy="292608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" y="4631436"/>
            <a:ext cx="5266944" cy="4572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73202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Özet oluşturma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4064" y="4722875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536192"/>
            <a:ext cx="548640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44768" y="1536192"/>
            <a:ext cx="5486400" cy="457200"/>
          </a:xfrm>
          <a:prstGeom prst="roundRect">
            <a:avLst>
              <a:gd name="adj" fmla="val 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847088"/>
            <a:ext cx="5486400" cy="14630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240279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Resmî yazı taslağı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661904" y="2231136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4496" y="2638044"/>
            <a:ext cx="5266944" cy="4572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2738627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Format öz-denetimi (üslup)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61904" y="2729484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236975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Birim yönlendirme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88167" y="3227832"/>
            <a:ext cx="886968" cy="292608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3634739"/>
            <a:ext cx="5266944" cy="4572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35324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Kullanıcı bilgilendirme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88167" y="3726179"/>
            <a:ext cx="886968" cy="292608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233672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A2233"/>
                </a:solidFill>
                <a:latin typeface="Segoe UI"/>
              </a:rPr>
              <a:t>Eksik bilgi talebi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88167" y="4224527"/>
            <a:ext cx="886968" cy="292608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486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B85"/>
                </a:solidFill>
                <a:latin typeface="Segoe UI"/>
              </a:rPr>
              <a:t>Her yetenek → bir sorumlu + gerçek bir kod modülü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54406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B85"/>
                </a:solidFill>
                <a:latin typeface="Segoe UI Semibold"/>
              </a:rPr>
              <a:t>Ekip: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84848" y="5422392"/>
            <a:ext cx="1085392" cy="274320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07400" y="5422392"/>
            <a:ext cx="660196" cy="274320"/>
          </a:xfrm>
          <a:prstGeom prst="roundRect">
            <a:avLst>
              <a:gd name="adj" fmla="val 5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04757" y="5422392"/>
            <a:ext cx="830275" cy="27432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772192" y="5422392"/>
            <a:ext cx="745236" cy="27432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 Semibold"/>
              </a:rPr>
              <a:t>Emine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TEKNIK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Sistem Mimarisi — 11 Uzman Ajan + Orkestratör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73736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41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📥 Girdi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TXT · PDF · Görüntü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94560" y="2048256"/>
            <a:ext cx="310896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78608" y="1737360"/>
            <a:ext cx="1517904" cy="914400"/>
          </a:xfrm>
          <a:prstGeom prst="roundRect">
            <a:avLst>
              <a:gd name="adj" fmla="val 10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🧠 Orkestratör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koşullu akış · süre &amp; güven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69663" y="2048256"/>
            <a:ext cx="310896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53712" y="1517904"/>
            <a:ext cx="7068312" cy="1847088"/>
          </a:xfrm>
          <a:prstGeom prst="roundRect">
            <a:avLst>
              <a:gd name="adj" fmla="val 5000"/>
            </a:avLst>
          </a:prstGeom>
          <a:solidFill>
            <a:srgbClr val="EAF2FB"/>
          </a:solidFill>
          <a:ln w="15875">
            <a:solidFill>
              <a:srgbClr val="1B6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18304" y="1591056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6FC2"/>
                </a:solidFill>
                <a:latin typeface="Segoe UI Semibold"/>
              </a:rPr>
              <a:t>GÖREV 1 — Sınıflandırma &amp; İçerik Analizi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36592" y="1938528"/>
            <a:ext cx="1664208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BBD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4406E"/>
                </a:solidFill>
                <a:latin typeface="Segoe UI Semibold"/>
              </a:rPr>
              <a:t>🔤 OCR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938528"/>
            <a:ext cx="1664208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BBD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4406E"/>
                </a:solidFill>
                <a:latin typeface="Segoe UI Semibold"/>
              </a:rPr>
              <a:t>🏷️ Sınıflandırma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6448" y="1938528"/>
            <a:ext cx="1664208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BBD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4406E"/>
                </a:solidFill>
                <a:latin typeface="Segoe UI Semibold"/>
              </a:rPr>
              <a:t>🔍 Bilgi Çıkarımı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66376" y="1938528"/>
            <a:ext cx="1664208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BBD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4406E"/>
                </a:solidFill>
                <a:latin typeface="Segoe UI Semibold"/>
              </a:rPr>
              <a:t>⚠️ Eksik Bilgi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36592" y="2633472"/>
            <a:ext cx="1664208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BBD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4406E"/>
                </a:solidFill>
                <a:latin typeface="Segoe UI Semibold"/>
              </a:rPr>
              <a:t>📚 Mevzuat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2633472"/>
            <a:ext cx="1664208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BBD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4406E"/>
                </a:solidFill>
                <a:latin typeface="Segoe UI Semibold"/>
              </a:rPr>
              <a:t>⏱️ Triyaj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633472"/>
            <a:ext cx="1664208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BBD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4406E"/>
                </a:solidFill>
                <a:latin typeface="Segoe UI Semibold"/>
              </a:rPr>
              <a:t>📝 Özet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66376" y="2633472"/>
            <a:ext cx="1664208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BBD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4406E"/>
                </a:solidFill>
                <a:latin typeface="Segoe UI Semibold"/>
              </a:rPr>
              <a:t>🔒 KVKK Maskeleme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772400" y="3401568"/>
            <a:ext cx="310896" cy="384048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53712" y="3877056"/>
            <a:ext cx="4937760" cy="1481328"/>
          </a:xfrm>
          <a:prstGeom prst="roundRect">
            <a:avLst>
              <a:gd name="adj" fmla="val 5000"/>
            </a:avLst>
          </a:prstGeom>
          <a:solidFill>
            <a:srgbClr val="FDF0E7"/>
          </a:solidFill>
          <a:ln w="15875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18304" y="3950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590C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36592" y="4261104"/>
            <a:ext cx="146304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F1C9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8A3B08"/>
                </a:solidFill>
                <a:latin typeface="Segoe UI Semibold"/>
              </a:rPr>
              <a:t>📄 Taslak + Format Öz-Denetimi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3" y="4261104"/>
            <a:ext cx="146304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F1C9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8A3B08"/>
                </a:solidFill>
                <a:latin typeface="Segoe UI Semibold"/>
              </a:rPr>
              <a:t>🏢 Birim Yönlendirme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08975" y="4261104"/>
            <a:ext cx="1463040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F1C9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8A3B08"/>
                </a:solidFill>
                <a:latin typeface="Segoe UI Semibold"/>
              </a:rPr>
              <a:t>💬 Kullanıcı Bilgilendirme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564624" y="4480560"/>
            <a:ext cx="310896" cy="31089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930384" y="4041648"/>
            <a:ext cx="1691640" cy="1152144"/>
          </a:xfrm>
          <a:prstGeom prst="roundRect">
            <a:avLst>
              <a:gd name="adj" fmla="val 8000"/>
            </a:avLst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📤 12+ Yapılandırılmış Çıktı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59612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B85"/>
                </a:solidFill>
                <a:latin typeface="Segoe UI"/>
              </a:rPr>
              <a:t>Her ajan tek sorumluluk üstlenir; ajanlar birbirini çağırmaz, paylaşılan durum nesnesi </a:t>
            </a:r>
            <a:r>
              <a:rPr sz="1100" b="1">
                <a:solidFill>
                  <a:srgbClr val="1A2233"/>
                </a:solidFill>
                <a:latin typeface="Consolas"/>
              </a:rPr>
              <a:t>(AgentState)</a:t>
            </a:r>
            <a:r>
              <a:rPr sz="1100" b="0">
                <a:solidFill>
                  <a:srgbClr val="5B6B85"/>
                </a:solidFill>
                <a:latin typeface="Segoe UI"/>
              </a:rPr>
              <a:t> üzerinden koordine olur. LangChain/LangGraph yok — şeffaf, hafif, denetlenebilir.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SORUMLU OTOMASYON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Orkestratör ve 3 Koşullu Kapı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2331720"/>
            <a:ext cx="1280160" cy="822960"/>
          </a:xfrm>
          <a:prstGeom prst="roundRect">
            <a:avLst>
              <a:gd name="adj" fmla="val 12000"/>
            </a:avLst>
          </a:prstGeom>
          <a:solidFill>
            <a:srgbClr val="41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📥 Evrak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883664" y="2587752"/>
            <a:ext cx="256032" cy="31089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2194560" y="2167127"/>
            <a:ext cx="1554480" cy="1152144"/>
          </a:xfrm>
          <a:prstGeom prst="diamond">
            <a:avLst/>
          </a:prstGeom>
          <a:solidFill>
            <a:srgbClr val="F1B434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A2B00"/>
                </a:solidFill>
                <a:latin typeface="Segoe UI Semibold"/>
              </a:rPr>
              <a:t>KAPI 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A2B00"/>
                </a:solidFill>
                <a:latin typeface="Segoe UI Semibold"/>
              </a:rPr>
              <a:t>Okunabilir mi?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A2B00"/>
                </a:solidFill>
                <a:latin typeface="Segoe UI Semibold"/>
              </a:rPr>
              <a:t>(≥ 30 karakter)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03904" y="2587752"/>
            <a:ext cx="237744" cy="31089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4078224" y="2167127"/>
            <a:ext cx="1554480" cy="1152144"/>
          </a:xfrm>
          <a:prstGeom prst="diamond">
            <a:avLst/>
          </a:prstGeom>
          <a:solidFill>
            <a:srgbClr val="F1B434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A2B00"/>
                </a:solidFill>
                <a:latin typeface="Segoe UI Semibold"/>
              </a:rPr>
              <a:t>KAPI 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A2B00"/>
                </a:solidFill>
                <a:latin typeface="Segoe UI Semibold"/>
              </a:rPr>
              <a:t>Metin Türkçe mi?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687568" y="2587752"/>
            <a:ext cx="237744" cy="31089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0" y="2377439"/>
            <a:ext cx="137160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A2233"/>
                </a:solidFill>
                <a:latin typeface="Segoe UI Semibold"/>
              </a:rPr>
              <a:t>🏷️ Sınıflandırma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351775" y="2587752"/>
            <a:ext cx="237744" cy="31089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626096" y="2167127"/>
            <a:ext cx="1554480" cy="1152144"/>
          </a:xfrm>
          <a:prstGeom prst="diamond">
            <a:avLst/>
          </a:prstGeom>
          <a:solidFill>
            <a:srgbClr val="F1B434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A2B00"/>
                </a:solidFill>
                <a:latin typeface="Segoe UI Semibold"/>
              </a:rPr>
              <a:t>KAPI 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A2B00"/>
                </a:solidFill>
                <a:latin typeface="Segoe UI Semibold"/>
              </a:rPr>
              <a:t>Güven ≥ 0,6 ?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35440" y="2587752"/>
            <a:ext cx="237744" cy="31089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09760" y="2350008"/>
            <a:ext cx="2103120" cy="786384"/>
          </a:xfrm>
          <a:prstGeom prst="roundRect">
            <a:avLst>
              <a:gd name="adj" fmla="val 12000"/>
            </a:avLst>
          </a:prstGeom>
          <a:solidFill>
            <a:srgbClr val="E7F6EC"/>
          </a:solidFill>
          <a:ln w="15875">
            <a:solidFill>
              <a:srgbClr val="2F9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E6B32"/>
                </a:solidFill>
                <a:latin typeface="Segoe UI Semibold"/>
              </a:rPr>
              <a:t>✓ Akış devam eder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834640" y="3355848"/>
            <a:ext cx="274320" cy="4572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11680" y="3849624"/>
            <a:ext cx="1920240" cy="749808"/>
          </a:xfrm>
          <a:prstGeom prst="roundRect">
            <a:avLst>
              <a:gd name="adj" fmla="val 10000"/>
            </a:avLst>
          </a:prstGeom>
          <a:solidFill>
            <a:srgbClr val="FCEBED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9E1B2C"/>
                </a:solidFill>
                <a:latin typeface="Segoe UI Semibold"/>
              </a:rPr>
              <a:t>⛔ Süreç durur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E1B2C"/>
                </a:solidFill>
                <a:latin typeface="Segoe UI"/>
              </a:rPr>
              <a:t>uydurma çıktı üretilmez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275320" y="3355848"/>
            <a:ext cx="274320" cy="45720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23760" y="3849624"/>
            <a:ext cx="2651760" cy="749808"/>
          </a:xfrm>
          <a:prstGeom prst="roundRect">
            <a:avLst>
              <a:gd name="adj" fmla="val 10000"/>
            </a:avLst>
          </a:prstGeom>
          <a:solidFill>
            <a:srgbClr val="FDF1E7"/>
          </a:solidFill>
          <a:ln w="15875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A3B08"/>
                </a:solidFill>
                <a:latin typeface="Segoe UI Semibold"/>
              </a:rPr>
              <a:t>👤 İnsan onayı gerekli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A3B08"/>
                </a:solidFill>
                <a:latin typeface="Segoe UI"/>
              </a:rPr>
              <a:t>en olası 2 aday + gerekçe gösterilir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504688"/>
            <a:ext cx="11055096" cy="749808"/>
          </a:xfrm>
          <a:prstGeom prst="roundRect">
            <a:avLst>
              <a:gd name="adj" fmla="val 8000"/>
            </a:avLst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614416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1B434"/>
                </a:solidFill>
                <a:latin typeface="Segoe UI Semibold"/>
              </a:rPr>
              <a:t>İlke:  </a:t>
            </a:r>
            <a:r>
              <a:rPr sz="1300" b="1">
                <a:solidFill>
                  <a:srgbClr val="FFFFFF"/>
                </a:solidFill>
                <a:latin typeface="Segoe UI Semibold"/>
              </a:rPr>
              <a:t>Emin olmadığında dur, insana devret. </a:t>
            </a:r>
            <a:r>
              <a:rPr sz="1150" b="0">
                <a:solidFill>
                  <a:srgbClr val="C7D5EC"/>
                </a:solidFill>
                <a:latin typeface="Segoe UI"/>
              </a:rPr>
              <a:t>Kapılar halüsinasyonu önler ve insan gözetimini (HITL) mimariye kodlar — kamu gerçekliğine uygun sorumlu otomasyon.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MIMARIYE KODLANMIŞ İLKE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Offline-First + İnsan Onayı — Gerçek Kod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5532120" cy="320040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 w="12700">
            <a:solidFill>
              <a:srgbClr val="26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532120" cy="310896"/>
          </a:xfrm>
          <a:prstGeom prst="roundRect">
            <a:avLst>
              <a:gd name="adj" fmla="val 5000"/>
            </a:avLst>
          </a:prstGeom>
          <a:solidFill>
            <a:srgbClr val="14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1673352"/>
            <a:ext cx="100584" cy="10058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673352"/>
            <a:ext cx="100584" cy="10058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8992" y="1673352"/>
            <a:ext cx="100584" cy="10058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627632"/>
            <a:ext cx="4617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FA6C2"/>
                </a:solidFill>
                <a:latin typeface="Consolas"/>
              </a:rPr>
              <a:t>src/agents/orchestrator.py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56816"/>
            <a:ext cx="5202936" cy="27432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_MIN_ANLAMLI_KARAKTER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=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7BE0C3"/>
                </a:solidFill>
                <a:latin typeface="Consolas"/>
              </a:rPr>
              <a:t>30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_INSAN_ONAYI_GUVEN_ESIGI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=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7BE0C3"/>
                </a:solidFill>
                <a:latin typeface="Consolas"/>
              </a:rPr>
              <a:t>0.6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6E8BA6"/>
                </a:solidFill>
                <a:latin typeface="Consolas"/>
              </a:rPr>
              <a:t># KAPI 1 — boş/bozuk metinde analiz yapma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1">
                <a:solidFill>
                  <a:srgbClr val="6FB3FF"/>
                </a:solidFill>
                <a:latin typeface="Consolas"/>
              </a:rPr>
              <a:t>if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1">
                <a:solidFill>
                  <a:srgbClr val="6FB3FF"/>
                </a:solidFill>
                <a:latin typeface="Consolas"/>
              </a:rPr>
              <a:t>not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1">
                <a:solidFill>
                  <a:srgbClr val="6FB3FF"/>
                </a:solidFill>
                <a:latin typeface="Consolas"/>
              </a:rPr>
              <a:t>self</a:t>
            </a:r>
            <a:r>
              <a:rPr sz="1200" b="0">
                <a:solidFill>
                  <a:srgbClr val="D6E2F0"/>
                </a:solidFill>
                <a:latin typeface="Consolas"/>
              </a:rPr>
              <a:t>.</a:t>
            </a:r>
            <a:r>
              <a:rPr sz="1200" b="0">
                <a:solidFill>
                  <a:srgbClr val="D6E2F0"/>
                </a:solidFill>
                <a:latin typeface="Consolas"/>
              </a:rPr>
              <a:t>_metin_okunabilir_mi</a:t>
            </a:r>
            <a:r>
              <a:rPr sz="1200" b="0">
                <a:solidFill>
                  <a:srgbClr val="D6E2F0"/>
                </a:solidFill>
                <a:latin typeface="Consolas"/>
              </a:rPr>
              <a:t>(</a:t>
            </a:r>
            <a:r>
              <a:rPr sz="1200" b="0">
                <a:solidFill>
                  <a:srgbClr val="D6E2F0"/>
                </a:solidFill>
                <a:latin typeface="Consolas"/>
              </a:rPr>
              <a:t>)</a:t>
            </a:r>
            <a:r>
              <a:rPr sz="1200" b="0">
                <a:solidFill>
                  <a:srgbClr val="D6E2F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    </a:t>
            </a:r>
            <a:r>
              <a:rPr sz="1200" b="1">
                <a:solidFill>
                  <a:srgbClr val="6FB3FF"/>
                </a:solidFill>
                <a:latin typeface="Consolas"/>
              </a:rPr>
              <a:t>self</a:t>
            </a:r>
            <a:r>
              <a:rPr sz="1200" b="0">
                <a:solidFill>
                  <a:srgbClr val="D6E2F0"/>
                </a:solidFill>
                <a:latin typeface="Consolas"/>
              </a:rPr>
              <a:t>.</a:t>
            </a:r>
            <a:r>
              <a:rPr sz="1200" b="0">
                <a:solidFill>
                  <a:srgbClr val="D6E2F0"/>
                </a:solidFill>
                <a:latin typeface="Consolas"/>
              </a:rPr>
              <a:t>_uygula_bos_metin_kapisi</a:t>
            </a:r>
            <a:r>
              <a:rPr sz="1200" b="0">
                <a:solidFill>
                  <a:srgbClr val="D6E2F0"/>
                </a:solidFill>
                <a:latin typeface="Consolas"/>
              </a:rPr>
              <a:t>(</a:t>
            </a:r>
            <a:r>
              <a:rPr sz="1200" b="0">
                <a:solidFill>
                  <a:srgbClr val="D6E2F0"/>
                </a:solidFill>
                <a:latin typeface="Consolas"/>
              </a:rPr>
              <a:t>mode</a:t>
            </a:r>
            <a:r>
              <a:rPr sz="1200" b="0">
                <a:solidFill>
                  <a:srgbClr val="D6E2F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6E8BA6"/>
                </a:solidFill>
                <a:latin typeface="Consolas"/>
              </a:rPr>
              <a:t># KAPI 2 — Türkçe değilse taslağı durdur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metin_turkce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=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1">
                <a:solidFill>
                  <a:srgbClr val="6FB3FF"/>
                </a:solidFill>
                <a:latin typeface="Consolas"/>
              </a:rPr>
              <a:t>self</a:t>
            </a:r>
            <a:r>
              <a:rPr sz="1200" b="0">
                <a:solidFill>
                  <a:srgbClr val="D6E2F0"/>
                </a:solidFill>
                <a:latin typeface="Consolas"/>
              </a:rPr>
              <a:t>.</a:t>
            </a:r>
            <a:r>
              <a:rPr sz="1200" b="0">
                <a:solidFill>
                  <a:srgbClr val="D6E2F0"/>
                </a:solidFill>
                <a:latin typeface="Consolas"/>
              </a:rPr>
              <a:t>_metin_turkce_mi</a:t>
            </a:r>
            <a:r>
              <a:rPr sz="1200" b="0">
                <a:solidFill>
                  <a:srgbClr val="D6E2F0"/>
                </a:solidFill>
                <a:latin typeface="Consolas"/>
              </a:rPr>
              <a:t>(</a:t>
            </a:r>
            <a:r>
              <a:rPr sz="1200" b="0">
                <a:solidFill>
                  <a:srgbClr val="D6E2F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1">
                <a:solidFill>
                  <a:srgbClr val="6FB3FF"/>
                </a:solidFill>
                <a:latin typeface="Consolas"/>
              </a:rPr>
              <a:t>self</a:t>
            </a:r>
            <a:r>
              <a:rPr sz="1200" b="0">
                <a:solidFill>
                  <a:srgbClr val="D6E2F0"/>
                </a:solidFill>
                <a:latin typeface="Consolas"/>
              </a:rPr>
              <a:t>.</a:t>
            </a:r>
            <a:r>
              <a:rPr sz="1200" b="0">
                <a:solidFill>
                  <a:srgbClr val="D6E2F0"/>
                </a:solidFill>
                <a:latin typeface="Consolas"/>
              </a:rPr>
              <a:t>_run_step</a:t>
            </a:r>
            <a:r>
              <a:rPr sz="1200" b="0">
                <a:solidFill>
                  <a:srgbClr val="D6E2F0"/>
                </a:solidFill>
                <a:latin typeface="Consolas"/>
              </a:rPr>
              <a:t>(</a:t>
            </a:r>
            <a:r>
              <a:rPr sz="1200" b="0">
                <a:solidFill>
                  <a:srgbClr val="FFB570"/>
                </a:solidFill>
                <a:latin typeface="Consolas"/>
              </a:rPr>
              <a:t>'classification'</a:t>
            </a:r>
            <a:r>
              <a:rPr sz="1200" b="0">
                <a:solidFill>
                  <a:srgbClr val="D6E2F0"/>
                </a:solidFill>
                <a:latin typeface="Consolas"/>
              </a:rPr>
              <a:t>,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FFB570"/>
                </a:solidFill>
                <a:latin typeface="Consolas"/>
              </a:rPr>
              <a:t>'Sınıflandırma'</a:t>
            </a:r>
            <a:r>
              <a:rPr sz="1200" b="0">
                <a:solidFill>
                  <a:srgbClr val="D6E2F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6E8BA6"/>
                </a:solidFill>
                <a:latin typeface="Consolas"/>
              </a:rPr>
              <a:t># KAPI 3 — güven &lt; 0.6 ise insan onayına düşür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1">
                <a:solidFill>
                  <a:srgbClr val="6FB3FF"/>
                </a:solidFill>
                <a:latin typeface="Consolas"/>
              </a:rPr>
              <a:t>self</a:t>
            </a:r>
            <a:r>
              <a:rPr sz="1200" b="0">
                <a:solidFill>
                  <a:srgbClr val="D6E2F0"/>
                </a:solidFill>
                <a:latin typeface="Consolas"/>
              </a:rPr>
              <a:t>.</a:t>
            </a:r>
            <a:r>
              <a:rPr sz="1200" b="0">
                <a:solidFill>
                  <a:srgbClr val="D6E2F0"/>
                </a:solidFill>
                <a:latin typeface="Consolas"/>
              </a:rPr>
              <a:t>_degerlendir_siniflandirma_guveni</a:t>
            </a:r>
            <a:r>
              <a:rPr sz="1200" b="0">
                <a:solidFill>
                  <a:srgbClr val="D6E2F0"/>
                </a:solidFill>
                <a:latin typeface="Consolas"/>
              </a:rPr>
              <a:t>(</a:t>
            </a:r>
            <a:r>
              <a:rPr sz="1200" b="0">
                <a:solidFill>
                  <a:srgbClr val="D6E2F0"/>
                </a:solidFill>
                <a:latin typeface="Consolas"/>
              </a:rPr>
              <a:t>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572768"/>
            <a:ext cx="5376672" cy="320040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 w="12700">
            <a:solidFill>
              <a:srgbClr val="26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45352" y="1572768"/>
            <a:ext cx="5376672" cy="310896"/>
          </a:xfrm>
          <a:prstGeom prst="roundRect">
            <a:avLst>
              <a:gd name="adj" fmla="val 5000"/>
            </a:avLst>
          </a:prstGeom>
          <a:solidFill>
            <a:srgbClr val="14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91656" y="1673352"/>
            <a:ext cx="100584" cy="10058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74536" y="1673352"/>
            <a:ext cx="100584" cy="10058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57416" y="1673352"/>
            <a:ext cx="100584" cy="10058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58584" y="1627632"/>
            <a:ext cx="446227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FA6C2"/>
                </a:solidFill>
                <a:latin typeface="Consolas"/>
              </a:rPr>
              <a:t>src/agents/classification_agent.py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1956816"/>
            <a:ext cx="5047488" cy="274320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_ENSEMBLE_KURAL_AGIRLIGI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=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7BE0C3"/>
                </a:solidFill>
                <a:latin typeface="Consolas"/>
              </a:rPr>
              <a:t>0.6</a:t>
            </a:r>
            <a:r>
              <a:rPr sz="1200" b="0">
                <a:solidFill>
                  <a:srgbClr val="D6E2F0"/>
                </a:solidFill>
                <a:latin typeface="Consolas"/>
              </a:rPr>
              <a:t>  </a:t>
            </a:r>
            <a:r>
              <a:rPr sz="1200" b="0">
                <a:solidFill>
                  <a:srgbClr val="6E8BA6"/>
                </a:solidFill>
                <a:latin typeface="Consolas"/>
              </a:rPr>
              <a:t># kalibre kural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_ENSEMBLE_ML_AGIRLIGI</a:t>
            </a:r>
            <a:r>
              <a:rPr sz="1200" b="0">
                <a:solidFill>
                  <a:srgbClr val="D6E2F0"/>
                </a:solidFill>
                <a:latin typeface="Consolas"/>
              </a:rPr>
              <a:t>    </a:t>
            </a:r>
            <a:r>
              <a:rPr sz="1200" b="0">
                <a:solidFill>
                  <a:srgbClr val="D6E2F0"/>
                </a:solidFill>
                <a:latin typeface="Consolas"/>
              </a:rPr>
              <a:t>=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7BE0C3"/>
                </a:solidFill>
                <a:latin typeface="Consolas"/>
              </a:rPr>
              <a:t>0.4</a:t>
            </a:r>
            <a:r>
              <a:rPr sz="1200" b="0">
                <a:solidFill>
                  <a:srgbClr val="D6E2F0"/>
                </a:solidFill>
                <a:latin typeface="Consolas"/>
              </a:rPr>
              <a:t>  </a:t>
            </a:r>
            <a:r>
              <a:rPr sz="1200" b="0">
                <a:solidFill>
                  <a:srgbClr val="6E8BA6"/>
                </a:solidFill>
                <a:latin typeface="Consolas"/>
              </a:rPr>
              <a:t># saf-Python NB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_ESKALASYON_ESIGI</a:t>
            </a:r>
            <a:r>
              <a:rPr sz="1200" b="0">
                <a:solidFill>
                  <a:srgbClr val="D6E2F0"/>
                </a:solidFill>
                <a:latin typeface="Consolas"/>
              </a:rPr>
              <a:t>        </a:t>
            </a:r>
            <a:r>
              <a:rPr sz="1200" b="0">
                <a:solidFill>
                  <a:srgbClr val="D6E2F0"/>
                </a:solidFill>
                <a:latin typeface="Consolas"/>
              </a:rPr>
              <a:t>=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7BE0C3"/>
                </a:solidFill>
                <a:latin typeface="Consolas"/>
              </a:rPr>
              <a:t>0.6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6E8BA6"/>
                </a:solidFill>
                <a:latin typeface="Consolas"/>
              </a:rPr>
              <a:t># Üçlü hibrit: kural + istatistik + (ops.) LLM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birlesik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=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7BE0C3"/>
                </a:solidFill>
                <a:latin typeface="Consolas"/>
              </a:rPr>
              <a:t>0.6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*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kural_ola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+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7BE0C3"/>
                </a:solidFill>
                <a:latin typeface="Consolas"/>
              </a:rPr>
              <a:t>0.4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*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ml_ola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1">
                <a:solidFill>
                  <a:srgbClr val="6FB3FF"/>
                </a:solidFill>
                <a:latin typeface="Consolas"/>
              </a:rPr>
              <a:t>if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guven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&lt;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_ESKALASYON_ESIGI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1">
                <a:solidFill>
                  <a:srgbClr val="6FB3FF"/>
                </a:solidFill>
                <a:latin typeface="Consolas"/>
              </a:rPr>
              <a:t>and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llm</a:t>
            </a:r>
            <a:r>
              <a:rPr sz="1200" b="0">
                <a:solidFill>
                  <a:srgbClr val="D6E2F0"/>
                </a:solidFill>
                <a:latin typeface="Consolas"/>
              </a:rPr>
              <a:t>.</a:t>
            </a:r>
            <a:r>
              <a:rPr sz="1200" b="0">
                <a:solidFill>
                  <a:srgbClr val="D6E2F0"/>
                </a:solidFill>
                <a:latin typeface="Consolas"/>
              </a:rPr>
              <a:t>aktif</a:t>
            </a:r>
            <a:r>
              <a:rPr sz="1200" b="0">
                <a:solidFill>
                  <a:srgbClr val="D6E2F0"/>
                </a:solidFill>
                <a:latin typeface="Consolas"/>
              </a:rPr>
              <a:t>: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D6E2F0"/>
                </a:solidFill>
                <a:latin typeface="Consolas"/>
              </a:rPr>
              <a:t>    </a:t>
            </a:r>
            <a:r>
              <a:rPr sz="1200" b="0">
                <a:solidFill>
                  <a:srgbClr val="D6E2F0"/>
                </a:solidFill>
                <a:latin typeface="Consolas"/>
              </a:rPr>
              <a:t>sonuc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=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llm_ile_dogrula</a:t>
            </a:r>
            <a:r>
              <a:rPr sz="1200" b="0">
                <a:solidFill>
                  <a:srgbClr val="D6E2F0"/>
                </a:solidFill>
                <a:latin typeface="Consolas"/>
              </a:rPr>
              <a:t>(</a:t>
            </a:r>
            <a:r>
              <a:rPr sz="1200" b="0">
                <a:solidFill>
                  <a:srgbClr val="D6E2F0"/>
                </a:solidFill>
                <a:latin typeface="Consolas"/>
              </a:rPr>
              <a:t>metin</a:t>
            </a:r>
            <a:r>
              <a:rPr sz="1200" b="0">
                <a:solidFill>
                  <a:srgbClr val="D6E2F0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0">
                <a:solidFill>
                  <a:srgbClr val="6E8BA6"/>
                </a:solidFill>
                <a:latin typeface="Consolas"/>
              </a:rPr>
              <a:t># offline'da kural sonucu her zaman korunur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1200" b="1">
                <a:solidFill>
                  <a:srgbClr val="6FB3FF"/>
                </a:solidFill>
                <a:latin typeface="Consolas"/>
              </a:rPr>
              <a:t>return</a:t>
            </a:r>
            <a:r>
              <a:rPr sz="1200" b="0">
                <a:solidFill>
                  <a:srgbClr val="D6E2F0"/>
                </a:solidFill>
                <a:latin typeface="Consolas"/>
              </a:rPr>
              <a:t> </a:t>
            </a:r>
            <a:r>
              <a:rPr sz="1200" b="0">
                <a:solidFill>
                  <a:srgbClr val="D6E2F0"/>
                </a:solidFill>
                <a:latin typeface="Consolas"/>
              </a:rPr>
              <a:t>sonuc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956048"/>
            <a:ext cx="3611880" cy="11338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4956048"/>
            <a:ext cx="82296" cy="1133856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5065776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🔌  </a:t>
            </a:r>
            <a:r>
              <a:rPr sz="1250" b="1">
                <a:solidFill>
                  <a:srgbClr val="1A2233"/>
                </a:solidFill>
                <a:latin typeface="Segoe UI Semibold"/>
              </a:rPr>
              <a:t>Offline-first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541324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30" b="0">
                <a:solidFill>
                  <a:srgbClr val="34405A"/>
                </a:solidFill>
                <a:latin typeface="Segoe UI"/>
              </a:rPr>
              <a:t>LLM/internet olmadan tüm ajanlar kural tabanlı çalışır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4956048"/>
            <a:ext cx="3611880" cy="11338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4956048"/>
            <a:ext cx="82296" cy="1133856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5065776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🧩  </a:t>
            </a:r>
            <a:r>
              <a:rPr sz="1250" b="1">
                <a:solidFill>
                  <a:srgbClr val="1A2233"/>
                </a:solidFill>
                <a:latin typeface="Segoe UI Semibold"/>
              </a:rPr>
              <a:t>Framework'süz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541324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30" b="0">
                <a:solidFill>
                  <a:srgbClr val="34405A"/>
                </a:solidFill>
                <a:latin typeface="Segoe UI"/>
              </a:rPr>
              <a:t>Saf Python orkestrasyon — kara kutu yok, denetlenebilir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28432" y="4956048"/>
            <a:ext cx="3611880" cy="11338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28432" y="4956048"/>
            <a:ext cx="82296" cy="1133856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5065776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⚖️  </a:t>
            </a:r>
            <a:r>
              <a:rPr sz="1250" b="1">
                <a:solidFill>
                  <a:srgbClr val="1A2233"/>
                </a:solidFill>
                <a:latin typeface="Segoe UI Semibold"/>
              </a:rPr>
              <a:t>Mevzuat-temelli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5413248"/>
            <a:ext cx="3227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30" b="0">
                <a:solidFill>
                  <a:srgbClr val="34405A"/>
                </a:solidFill>
                <a:latin typeface="Segoe UI"/>
              </a:rPr>
              <a:t>Her taslak kuralı yönetmelik madde/fıkra dayanağıyla denetlenir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YÖNTEM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Yöntemimiz ve Özgün Katkılarımız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5029200" cy="370332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 w="1270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Üçlü Hibrit Sınıflandırma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21031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BD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B6FC2"/>
                </a:solidFill>
                <a:latin typeface="Segoe UI Semibold"/>
              </a:rPr>
              <a:t>① Kural Skoru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6FC2"/>
                </a:solidFill>
                <a:latin typeface="Segoe UI"/>
              </a:rPr>
              <a:t>ağırlıklı kelime + yapısal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2286000"/>
            <a:ext cx="21031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A9E3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CA678"/>
                </a:solidFill>
                <a:latin typeface="Segoe UI Semibold"/>
              </a:rPr>
              <a:t>② Naive Bayes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CA678"/>
                </a:solidFill>
                <a:latin typeface="Segoe UI"/>
              </a:rPr>
              <a:t>saf-Python, TF-IDF + n-gram</a:t>
            </a:r>
          </a:p>
        </p:txBody>
      </p:sp>
      <p:sp>
        <p:nvSpPr>
          <p:cNvPr id="9" name="Down Arrow 8"/>
          <p:cNvSpPr/>
          <p:nvPr/>
        </p:nvSpPr>
        <p:spPr>
          <a:xfrm>
            <a:off x="1554480" y="3063240"/>
            <a:ext cx="274320" cy="310896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3931920" y="3063240"/>
            <a:ext cx="274320" cy="310896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54480" y="3456432"/>
            <a:ext cx="2651760" cy="658368"/>
          </a:xfrm>
          <a:prstGeom prst="roundRect">
            <a:avLst>
              <a:gd name="adj" fmla="val 12000"/>
            </a:avLst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Ensemble  0,6 × kural + 0,4 × ML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697480" y="4133087"/>
            <a:ext cx="274320" cy="274320"/>
          </a:xfrm>
          <a:prstGeom prst="downArrow">
            <a:avLst>
              <a:gd name="adj1" fmla="val 55000"/>
              <a:gd name="adj2" fmla="val 55000"/>
            </a:avLst>
          </a:prstGeom>
          <a:solidFill>
            <a:srgbClr val="B7C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71600" y="4443984"/>
            <a:ext cx="30175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F1C9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E8590C"/>
                </a:solidFill>
                <a:latin typeface="Segoe UI Semibold"/>
              </a:rPr>
              <a:t>③ LLM Eskalasyonu (güven &lt; 0,6)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8590C"/>
                </a:solidFill>
                <a:latin typeface="Segoe UI"/>
              </a:rPr>
              <a:t>yoksa kural sonucu korunur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79008" y="1600200"/>
            <a:ext cx="5843016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79008" y="1600200"/>
            <a:ext cx="82296" cy="859536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16752" y="170992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🧩  </a:t>
            </a:r>
            <a:r>
              <a:rPr sz="1250" b="1">
                <a:solidFill>
                  <a:srgbClr val="1A2233"/>
                </a:solidFill>
                <a:latin typeface="Segoe UI Semibold"/>
              </a:rPr>
              <a:t>Framework bağımsız saf Python çok ajanlı orkestrasyon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57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4405A"/>
                </a:solidFill>
                <a:latin typeface="Segoe UI"/>
              </a:rPr>
              <a:t>Kara kutu agent kütüphanesi yok; her karar izlenebilir.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79008" y="2532888"/>
            <a:ext cx="5843016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79008" y="2532888"/>
            <a:ext cx="82296" cy="859536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16752" y="26426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✅  </a:t>
            </a:r>
            <a:r>
              <a:rPr sz="1250" b="1">
                <a:solidFill>
                  <a:srgbClr val="1A2233"/>
                </a:solidFill>
                <a:latin typeface="Segoe UI Semibold"/>
              </a:rPr>
              <a:t>Taslak format öz-denetimi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299008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4405A"/>
                </a:solidFill>
                <a:latin typeface="Segoe UI"/>
              </a:rPr>
              <a:t>Sistem kendi çıktısını Resmî Yazışma Yönetmeliği'nin kurallarına göre puanlar.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79008" y="3465576"/>
            <a:ext cx="5843016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79008" y="3465576"/>
            <a:ext cx="82296" cy="859536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16752" y="3575304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🔁  </a:t>
            </a:r>
            <a:r>
              <a:rPr sz="1250" b="1">
                <a:solidFill>
                  <a:srgbClr val="1A2233"/>
                </a:solidFill>
                <a:latin typeface="Segoe UI Semibold"/>
              </a:rPr>
              <a:t>Offline-first hibrit tasarım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16752" y="392277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4405A"/>
                </a:solidFill>
                <a:latin typeface="Segoe UI"/>
              </a:rPr>
              <a:t>LLM'siz tam işlev + LLM'li eskalasyon aynı mimaride.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79008" y="4398264"/>
            <a:ext cx="5843016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779008" y="4398264"/>
            <a:ext cx="82296" cy="859536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16752" y="450799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🛡️  </a:t>
            </a:r>
            <a:r>
              <a:rPr sz="1250" b="1">
                <a:solidFill>
                  <a:srgbClr val="1A2233"/>
                </a:solidFill>
                <a:latin typeface="Segoe UI Semibold"/>
              </a:rPr>
              <a:t>Düşük güven kapısı + insan onayı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16752" y="485546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4405A"/>
                </a:solidFill>
                <a:latin typeface="Segoe UI"/>
              </a:rPr>
              <a:t>Halüsinasyon önleme ve HITL kamu gerçekliğine uygun.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UYGULAMA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Çalışan Sistem — Ölçülebilir Başarım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5440680" cy="3337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440680" cy="457200"/>
          </a:xfrm>
          <a:prstGeom prst="roundRect">
            <a:avLst>
              <a:gd name="adj" fmla="val 5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Geliştirme Seti · 52 evrak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83664"/>
            <a:ext cx="5440680" cy="146304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212848"/>
            <a:ext cx="4800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Sınıflandırma doğruluğu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2468880"/>
            <a:ext cx="4800600" cy="182880"/>
          </a:xfrm>
          <a:prstGeom prst="roundRect">
            <a:avLst>
              <a:gd name="adj" fmla="val 50000"/>
            </a:avLst>
          </a:prstGeom>
          <a:solidFill>
            <a:srgbClr val="E9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2468880"/>
            <a:ext cx="4800600" cy="182880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21284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6FC2"/>
                </a:solidFill>
                <a:latin typeface="Segoe UI Semibold"/>
              </a:rPr>
              <a:t>1,00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779776"/>
            <a:ext cx="4800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Birim yönlendirme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3035808"/>
            <a:ext cx="4800600" cy="182880"/>
          </a:xfrm>
          <a:prstGeom prst="roundRect">
            <a:avLst>
              <a:gd name="adj" fmla="val 50000"/>
            </a:avLst>
          </a:prstGeom>
          <a:solidFill>
            <a:srgbClr val="E9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6968" y="3035808"/>
            <a:ext cx="4608576" cy="182880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779776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6FC2"/>
                </a:solidFill>
                <a:latin typeface="Segoe UI Semibold"/>
              </a:rPr>
              <a:t>0,96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346704"/>
            <a:ext cx="4800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Eksik bilgi tespiti (F1)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" y="3602736"/>
            <a:ext cx="4800600" cy="182880"/>
          </a:xfrm>
          <a:prstGeom prst="roundRect">
            <a:avLst>
              <a:gd name="adj" fmla="val 50000"/>
            </a:avLst>
          </a:prstGeom>
          <a:solidFill>
            <a:srgbClr val="E9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" y="3602736"/>
            <a:ext cx="4800600" cy="182880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3346704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6FC2"/>
                </a:solidFill>
                <a:latin typeface="Segoe UI Semibold"/>
              </a:rPr>
              <a:t>1,00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3913632"/>
            <a:ext cx="4800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Mevzuat isabet@3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968" y="4169664"/>
            <a:ext cx="4800600" cy="182880"/>
          </a:xfrm>
          <a:prstGeom prst="roundRect">
            <a:avLst>
              <a:gd name="adj" fmla="val 50000"/>
            </a:avLst>
          </a:prstGeom>
          <a:solidFill>
            <a:srgbClr val="E9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6968" y="4169664"/>
            <a:ext cx="4608576" cy="182880"/>
          </a:xfrm>
          <a:prstGeom prst="roundRect">
            <a:avLst>
              <a:gd name="adj" fmla="val 50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3913632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6FC2"/>
                </a:solidFill>
                <a:latin typeface="Segoe UI Semibold"/>
              </a:rPr>
              <a:t>0,96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49884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4405A"/>
                </a:solidFill>
                <a:latin typeface="Segoe UI"/>
              </a:rPr>
              <a:t>Taslak kalitesi 93,6/100   ·   KVKK sızıntısı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1572768"/>
            <a:ext cx="5440680" cy="3337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0488" y="1572768"/>
            <a:ext cx="5440680" cy="457200"/>
          </a:xfrm>
          <a:prstGeom prst="roundRect">
            <a:avLst>
              <a:gd name="adj" fmla="val 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Adversarial Tutulmuş Set · 16 evrak — hiç dokunulmamış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0488" y="1883664"/>
            <a:ext cx="5440680" cy="14630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7" y="2212848"/>
            <a:ext cx="4800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Sınıflandırma doğruluğu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0527" y="2468880"/>
            <a:ext cx="4800600" cy="182880"/>
          </a:xfrm>
          <a:prstGeom prst="roundRect">
            <a:avLst>
              <a:gd name="adj" fmla="val 50000"/>
            </a:avLst>
          </a:prstGeom>
          <a:solidFill>
            <a:srgbClr val="E9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10527" y="2468880"/>
            <a:ext cx="4512564" cy="18288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13848" y="221284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590C"/>
                </a:solidFill>
                <a:latin typeface="Segoe UI Semibold"/>
              </a:rPr>
              <a:t>0,94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7" y="2779776"/>
            <a:ext cx="4800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Birim yönlendirme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10527" y="3035808"/>
            <a:ext cx="4800600" cy="182880"/>
          </a:xfrm>
          <a:prstGeom prst="roundRect">
            <a:avLst>
              <a:gd name="adj" fmla="val 50000"/>
            </a:avLst>
          </a:prstGeom>
          <a:solidFill>
            <a:srgbClr val="E9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10527" y="3035808"/>
            <a:ext cx="4800600" cy="18288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13848" y="2779776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590C"/>
                </a:solidFill>
                <a:latin typeface="Segoe UI Semibold"/>
              </a:rPr>
              <a:t>1,00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7" y="3346704"/>
            <a:ext cx="4800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Eksik bilgi tespiti (F1)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10527" y="3602736"/>
            <a:ext cx="4800600" cy="182880"/>
          </a:xfrm>
          <a:prstGeom prst="roundRect">
            <a:avLst>
              <a:gd name="adj" fmla="val 50000"/>
            </a:avLst>
          </a:prstGeom>
          <a:solidFill>
            <a:srgbClr val="E9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510527" y="3602736"/>
            <a:ext cx="3984498" cy="18288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3346704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590C"/>
                </a:solidFill>
                <a:latin typeface="Segoe UI Semibold"/>
              </a:rPr>
              <a:t>0,83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7" y="3913632"/>
            <a:ext cx="4800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2233"/>
                </a:solidFill>
                <a:latin typeface="Segoe UI"/>
              </a:rPr>
              <a:t>Mevzuat isabet@3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10527" y="4169664"/>
            <a:ext cx="4800600" cy="182880"/>
          </a:xfrm>
          <a:prstGeom prst="roundRect">
            <a:avLst>
              <a:gd name="adj" fmla="val 50000"/>
            </a:avLst>
          </a:prstGeom>
          <a:solidFill>
            <a:srgbClr val="E9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10527" y="4169664"/>
            <a:ext cx="4512564" cy="18288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13848" y="3913632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8590C"/>
                </a:solidFill>
                <a:latin typeface="Segoe UI Semibold"/>
              </a:rPr>
              <a:t>0,94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0527" y="449884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4405A"/>
                </a:solidFill>
                <a:latin typeface="Segoe UI"/>
              </a:rPr>
              <a:t>Taslak kalitesi 95,8/100   ·   KVKK sızıntısı 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5074920"/>
            <a:ext cx="11055096" cy="932688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 w="1270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175504"/>
            <a:ext cx="10698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5B6B85"/>
                </a:solidFill>
                <a:latin typeface="Segoe UI Semibold"/>
              </a:rPr>
              <a:t>Kaynak: </a:t>
            </a:r>
            <a:r>
              <a:rPr sz="1050" b="0">
                <a:solidFill>
                  <a:srgbClr val="1A2233"/>
                </a:solidFill>
                <a:latin typeface="Consolas"/>
              </a:rPr>
              <a:t>data/processed/eval_report*.json</a:t>
            </a:r>
            <a:r>
              <a:rPr sz="1050" b="0">
                <a:solidFill>
                  <a:srgbClr val="5B6B85"/>
                </a:solidFill>
                <a:latin typeface="Segoe UI"/>
              </a:rPr>
              <a:t>  ·  tamamen çevrimdışı mod  ·  500+ test yeşil  ·  evrak başına saniye-altı işleme (medyan ~0,1 sn)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200"/>
              </a:spcAft>
            </a:pPr>
            <a:r>
              <a:rPr sz="1050" b="1">
                <a:solidFill>
                  <a:srgbClr val="C8102E"/>
                </a:solidFill>
                <a:latin typeface="Segoe UI Semibold"/>
              </a:rPr>
              <a:t>Dürüstlük: </a:t>
            </a:r>
            <a:r>
              <a:rPr sz="1050" b="0">
                <a:solidFill>
                  <a:srgbClr val="5B6B85"/>
                </a:solidFill>
                <a:latin typeface="Segoe UI"/>
              </a:rPr>
              <a:t>Adversarial sette eksik-bilgi F1 (0,83) düşüşü tuzakların hedefidir; sonuçlar hiçbir düzeltme yapılmadan olduğu gibi raporlanmıştır.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NEDEN BU PROJE?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Katılım Motivasyonumuz ve Gerekçeleri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27632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865376"/>
            <a:ext cx="603504" cy="603504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2233"/>
                </a:solidFill>
                <a:latin typeface="Segoe UI"/>
              </a:rPr>
              <a:t>⏱️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3163824"/>
            <a:ext cx="603504" cy="54864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193852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Ölçülebilir verimlilik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1518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60" b="0">
                <a:solidFill>
                  <a:srgbClr val="34405A"/>
                </a:solidFill>
                <a:latin typeface="Segoe UI"/>
              </a:rPr>
              <a:t>İlk inceleme, taslak ve yönlendirme adımlarında personel zamanı kazanımı.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627632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98848" y="1865376"/>
            <a:ext cx="603504" cy="603504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2233"/>
                </a:solidFill>
                <a:latin typeface="Segoe UI"/>
              </a:rPr>
              <a:t>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8" y="3163824"/>
            <a:ext cx="603504" cy="54864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193852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Veri egemenliği &amp; KVKK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61518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60" b="0">
                <a:solidFill>
                  <a:srgbClr val="34405A"/>
                </a:solidFill>
                <a:latin typeface="Segoe UI"/>
              </a:rPr>
              <a:t>Kişisel veriyi 3. taraf API'ye sızdırmadan, tamamen yerel (offline) çalışan yerli çözüm.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627632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1865376"/>
            <a:ext cx="603504" cy="603504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2233"/>
                </a:solidFill>
                <a:latin typeface="Segoe UI"/>
              </a:rPr>
              <a:t>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3" y="3163824"/>
            <a:ext cx="603504" cy="54864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4544" y="193852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Açık kaynak katkısı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1" y="2615184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60" b="0">
                <a:solidFill>
                  <a:srgbClr val="34405A"/>
                </a:solidFill>
                <a:latin typeface="Segoe UI"/>
              </a:rPr>
              <a:t>Türkçe dil teknolojileri ekosistemine (TAKP) Apache 2.0 lisanslı, tekrar-üretilebilir katkı.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57600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895344"/>
            <a:ext cx="603504" cy="603504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2233"/>
                </a:solidFill>
                <a:latin typeface="Segoe UI"/>
              </a:rPr>
              <a:t>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" y="5193792"/>
            <a:ext cx="603504" cy="54864"/>
          </a:xfrm>
          <a:prstGeom prst="rect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36192" y="3968496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Sorumlu otomasyon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645152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60" b="0">
                <a:solidFill>
                  <a:srgbClr val="34405A"/>
                </a:solidFill>
                <a:latin typeface="Segoe UI"/>
              </a:rPr>
              <a:t>Emin olmadığı kararda durup insana devreden, gerekçeli ve denetlenebilir tasarım.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61104" y="3657600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98848" y="3895344"/>
            <a:ext cx="603504" cy="603504"/>
          </a:xfrm>
          <a:prstGeom prst="ellipse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A2233"/>
                </a:solidFill>
                <a:latin typeface="Segoe UI"/>
              </a:rPr>
              <a:t>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98848" y="5193792"/>
            <a:ext cx="603504" cy="5486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30368" y="3968496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Takımın ilgisi ve birikimi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4645152"/>
            <a:ext cx="3108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60" b="0">
                <a:solidFill>
                  <a:srgbClr val="34405A"/>
                </a:solidFill>
                <a:latin typeface="Segoe UI"/>
              </a:rPr>
              <a:t>Türkçe NLP ve kamu süreçlerine dair merak ve ortak çalışma isteği.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3657600"/>
            <a:ext cx="3566160" cy="1847088"/>
          </a:xfrm>
          <a:prstGeom prst="roundRect">
            <a:avLst>
              <a:gd name="adj" fmla="val 8000"/>
            </a:avLst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384048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1B434"/>
                </a:solidFill>
                <a:latin typeface="Segoe UI Semibold"/>
              </a:rPr>
              <a:t>Kamuya uygun yapay zekâ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D8E2F3"/>
                </a:solidFill>
                <a:latin typeface="Segoe UI"/>
              </a:rPr>
              <a:t>“Her şeyi otomatikleştiren” değil; </a:t>
            </a:r>
            <a:r>
              <a:rPr sz="1150" b="1">
                <a:solidFill>
                  <a:srgbClr val="FFFFFF"/>
                </a:solidFill>
                <a:latin typeface="Segoe UI Semibold"/>
              </a:rPr>
              <a:t>doğru yerde insana devreden</a:t>
            </a:r>
            <a:r>
              <a:rPr sz="1150" b="0">
                <a:solidFill>
                  <a:srgbClr val="D8E2F3"/>
                </a:solidFill>
                <a:latin typeface="Segoe UI"/>
              </a:rPr>
              <a:t> bir sistem güven verir.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İLKELER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Açık Kaynak · KVKK · Dürüstlük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3566160" cy="3200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45920"/>
            <a:ext cx="3566160" cy="82296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6537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📖  </a:t>
            </a:r>
            <a:r>
              <a:rPr sz="1350" b="1">
                <a:solidFill>
                  <a:srgbClr val="1A2233"/>
                </a:solidFill>
                <a:latin typeface="Segoe UI Semibold"/>
              </a:rPr>
              <a:t>Açık Kaynak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22576"/>
            <a:ext cx="318211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F9E44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Apache 2.0 lisansı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F9E44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Tüm dokümantasyon Türkçe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F9E44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Model ağırlığı depoya yüklenmez (yalnızca bağlantı+sürüm+lisans)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F9E44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TAKP GitHub uyumu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645920"/>
            <a:ext cx="3566160" cy="3200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1104" y="1645920"/>
            <a:ext cx="3566160" cy="82296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186537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🔒  </a:t>
            </a:r>
            <a:r>
              <a:rPr sz="1350" b="1">
                <a:solidFill>
                  <a:srgbClr val="1A2233"/>
                </a:solidFill>
                <a:latin typeface="Segoe UI Semibold"/>
              </a:rPr>
              <a:t>KVKK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322576"/>
            <a:ext cx="318211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6FC2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9 kategori kişisel veri format-koruyarak maskelenir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6FC2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Sızıntı bağımsız denetçiyle ölçülür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6FC2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Sızıntısız oran 1,00 (her sette 0 kaçak)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6FC2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Tamamen kural tabanlı, offline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645920"/>
            <a:ext cx="3648456" cy="3200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645920"/>
            <a:ext cx="3648456" cy="82296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865376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2233"/>
                </a:solidFill>
                <a:latin typeface="Segoe UI Semibold"/>
              </a:rPr>
              <a:t>🎯  </a:t>
            </a:r>
            <a:r>
              <a:rPr sz="1350" b="1">
                <a:solidFill>
                  <a:srgbClr val="1A2233"/>
                </a:solidFill>
                <a:latin typeface="Segoe UI Semibold"/>
              </a:rPr>
              <a:t>Dürüstlük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2322576"/>
            <a:ext cx="326440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8102E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Ölçümler ne çıkarsa olduğu gibi raporlanır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8102E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Tutulmuş setlerdeki hatalar gizlenmez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8102E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Gerçek kamu verisi ASLA kullanılmaz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8102E"/>
                </a:solidFill>
                <a:latin typeface="Segoe UI"/>
              </a:rPr>
              <a:t>•  </a:t>
            </a:r>
            <a:r>
              <a:rPr sz="1050" b="0">
                <a:solidFill>
                  <a:srgbClr val="1A2233"/>
                </a:solidFill>
                <a:latin typeface="Segoe UI"/>
              </a:rPr>
              <a:t>Yalnızca sentetik/kurgu evrak + kamuya açık mevzuat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29200"/>
            <a:ext cx="11055096" cy="960120"/>
          </a:xfrm>
          <a:prstGeom prst="roundRect">
            <a:avLst>
              <a:gd name="adj" fmla="val 6000"/>
            </a:avLst>
          </a:prstGeom>
          <a:solidFill>
            <a:srgbClr val="F3F6FB"/>
          </a:solidFill>
          <a:ln w="12700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029200"/>
            <a:ext cx="82296" cy="960120"/>
          </a:xfrm>
          <a:prstGeom prst="rect">
            <a:avLst/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157216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5B6B85"/>
                </a:solidFill>
                <a:latin typeface="Segoe UI Semibold"/>
              </a:rPr>
              <a:t>Depo:  </a:t>
            </a:r>
            <a:r>
              <a:rPr sz="1150" b="1">
                <a:solidFill>
                  <a:srgbClr val="1A2233"/>
                </a:solidFill>
                <a:latin typeface="Consolas"/>
              </a:rPr>
              <a:t>github.com/msgxr/teknofest-2026-kamu-evrak-akilli-ajan</a:t>
            </a:r>
          </a:p>
          <a:p>
            <a:pPr algn="l">
              <a:spcBef>
                <a:spcPts val="300"/>
              </a:spcBef>
              <a:spcAft>
                <a:spcPts val="200"/>
              </a:spcAft>
            </a:pPr>
            <a:r>
              <a:rPr sz="1100" b="0">
                <a:solidFill>
                  <a:srgbClr val="5B6B85"/>
                </a:solidFill>
                <a:latin typeface="Segoe UI"/>
              </a:rPr>
              <a:t>116 etiketli sentetik evrak (52 geliştirme + 64 tutulmuş)  ·  15 belgelik mevzuat korpusu  ·  508+ 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8102E"/>
                </a:solidFill>
                <a:latin typeface="Segoe UI Semibold"/>
              </a:rPr>
              <a:t>YOL HARITASI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03504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A2233"/>
                </a:solidFill>
                <a:latin typeface="Segoe UI Semibold"/>
              </a:rPr>
              <a:t>Bugünden Finale ve Ürünleşmeye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298448"/>
            <a:ext cx="822960" cy="5029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3566160" cy="512064"/>
          </a:xfrm>
          <a:prstGeom prst="roundRect">
            <a:avLst>
              <a:gd name="adj" fmla="val 7000"/>
            </a:avLst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212848"/>
            <a:ext cx="3566160" cy="219456"/>
          </a:xfrm>
          <a:prstGeom prst="rect">
            <a:avLst/>
          </a:prstGeom>
          <a:solidFill>
            <a:srgbClr val="2F9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3566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BUGÜN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1518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2233"/>
                </a:solidFill>
                <a:latin typeface="Segoe UI Semibold"/>
              </a:rPr>
              <a:t>Çalışan sistem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30906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4405A"/>
                </a:solidFill>
                <a:latin typeface="Segoe UI"/>
              </a:rPr>
              <a:t>CLI + Streamlit + demo; iki görev tek uçtan uca akışta; 508+ test yeşil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96511" y="2880360"/>
            <a:ext cx="292608" cy="32918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8264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98264" y="1920240"/>
            <a:ext cx="3566160" cy="512064"/>
          </a:xfrm>
          <a:prstGeom prst="roundRect">
            <a:avLst>
              <a:gd name="adj" fmla="val 7000"/>
            </a:avLst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98264" y="2212848"/>
            <a:ext cx="3566160" cy="219456"/>
          </a:xfrm>
          <a:prstGeom prst="rect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264" y="1938528"/>
            <a:ext cx="3566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FİNALE KADAR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261518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2233"/>
                </a:solidFill>
                <a:latin typeface="Segoe UI Semibold"/>
              </a:rPr>
              <a:t>Derinleştirme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108960"/>
            <a:ext cx="30906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4405A"/>
                </a:solidFill>
                <a:latin typeface="Segoe UI"/>
              </a:rPr>
              <a:t>Türkçe NER · semantik katman kalibrasyonu · kullanıcı testleri ve dürüst sürekli ölçüm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27848" y="2880360"/>
            <a:ext cx="292608" cy="32918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AE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599" y="1920240"/>
            <a:ext cx="3566160" cy="2286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C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599" y="1920240"/>
            <a:ext cx="3566160" cy="512064"/>
          </a:xfrm>
          <a:prstGeom prst="roundRect">
            <a:avLst>
              <a:gd name="adj" fmla="val 7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9" y="2212848"/>
            <a:ext cx="3566160" cy="219456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1938528"/>
            <a:ext cx="3566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ÜRÜNLEŞME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1" y="261518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2233"/>
                </a:solidFill>
                <a:latin typeface="Segoe UI Semibold"/>
              </a:rPr>
              <a:t>Sahaya çıkış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1" y="3108960"/>
            <a:ext cx="309067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4405A"/>
                </a:solidFill>
                <a:latin typeface="Segoe UI"/>
              </a:rPr>
              <a:t>EBYS (TS 13298) / e-Yazışma entegrasyonu · pilot kurum · yerel model = veri kurumdan çıkmaz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526280"/>
            <a:ext cx="11055096" cy="1417320"/>
          </a:xfrm>
          <a:prstGeom prst="roundRect">
            <a:avLst>
              <a:gd name="adj" fmla="val 6000"/>
            </a:avLst>
          </a:prstGeom>
          <a:solidFill>
            <a:srgbClr val="0E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64515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1B434"/>
                </a:solidFill>
                <a:latin typeface="Segoe UI Semibold"/>
              </a:rPr>
              <a:t>YARIŞMA TAKVİMİ </a:t>
            </a:r>
            <a:r>
              <a:rPr sz="950" b="0">
                <a:solidFill>
                  <a:srgbClr val="8FA6C6"/>
                </a:solidFill>
                <a:latin typeface="Segoe UI"/>
              </a:rPr>
              <a:t>(teknofest.org'dan teyit edilmeli)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" y="5029200"/>
            <a:ext cx="146304" cy="146304"/>
          </a:xfrm>
          <a:prstGeom prst="ellipse">
            <a:avLst/>
          </a:prstGeom>
          <a:solidFill>
            <a:srgbClr val="F1B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49560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17 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524865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B9C8E2"/>
                </a:solidFill>
                <a:latin typeface="Segoe UI"/>
              </a:rPr>
              <a:t>Son teslim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9264" y="5097780"/>
            <a:ext cx="2084831" cy="18288"/>
          </a:xfrm>
          <a:prstGeom prst="rect">
            <a:avLst/>
          </a:prstGeom>
          <a:solidFill>
            <a:srgbClr val="2E4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926079" y="5029200"/>
            <a:ext cx="146304" cy="146304"/>
          </a:xfrm>
          <a:prstGeom prst="ellipse">
            <a:avLst/>
          </a:prstGeom>
          <a:solidFill>
            <a:srgbClr val="F1B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45535" y="49560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19 Tem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45535" y="524865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B9C8E2"/>
                </a:solidFill>
                <a:latin typeface="Segoe UI"/>
              </a:rPr>
              <a:t>Ön değ. sonucu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72384" y="5097780"/>
            <a:ext cx="2084831" cy="18288"/>
          </a:xfrm>
          <a:prstGeom prst="rect">
            <a:avLst/>
          </a:prstGeom>
          <a:solidFill>
            <a:srgbClr val="2E4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029200" y="5029200"/>
            <a:ext cx="146304" cy="146304"/>
          </a:xfrm>
          <a:prstGeom prst="ellipse">
            <a:avLst/>
          </a:prstGeom>
          <a:solidFill>
            <a:srgbClr val="F1B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48656" y="49560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21 Tem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48656" y="524865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B9C8E2"/>
                </a:solidFill>
                <a:latin typeface="Segoe UI"/>
              </a:rPr>
              <a:t>Teknik sınav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75504" y="5097780"/>
            <a:ext cx="2084831" cy="18288"/>
          </a:xfrm>
          <a:prstGeom prst="rect">
            <a:avLst/>
          </a:prstGeom>
          <a:solidFill>
            <a:srgbClr val="2E4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32320" y="5029200"/>
            <a:ext cx="146304" cy="146304"/>
          </a:xfrm>
          <a:prstGeom prst="ellipse">
            <a:avLst/>
          </a:prstGeom>
          <a:solidFill>
            <a:srgbClr val="F1B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51775" y="49560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24 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524865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B9C8E2"/>
                </a:solidFill>
                <a:latin typeface="Segoe UI"/>
              </a:rPr>
              <a:t>Finalistler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78624" y="5097780"/>
            <a:ext cx="2084831" cy="18288"/>
          </a:xfrm>
          <a:prstGeom prst="rect">
            <a:avLst/>
          </a:prstGeom>
          <a:solidFill>
            <a:srgbClr val="2E4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235440" y="5029200"/>
            <a:ext cx="146304" cy="146304"/>
          </a:xfrm>
          <a:prstGeom prst="ellipse">
            <a:avLst/>
          </a:prstGeom>
          <a:solidFill>
            <a:srgbClr val="F1B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54896" y="49560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Ağustos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54896" y="524865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B9C8E2"/>
                </a:solidFill>
                <a:latin typeface="Segoe UI"/>
              </a:rPr>
              <a:t>Final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6419088"/>
            <a:ext cx="11064240" cy="12801"/>
          </a:xfrm>
          <a:prstGeom prst="rect">
            <a:avLst/>
          </a:prstGeom>
          <a:solidFill>
            <a:srgbClr val="DCE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AGENTRA TECH  ·  TEKNOFEST 2026 · Yapay Zeka Dil Ajanları Yarışması · 1. Senaryo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2720" y="647395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B85"/>
                </a:solidFill>
                <a:latin typeface="Segoe U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8102E"/>
                </a:solidFill>
                <a:latin typeface="Segoe UI Semibold"/>
              </a:rPr>
              <a:t>TEŞEKKÜRLER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417320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Segoe UI Semibold"/>
              </a:rPr>
              <a:t>AGENTRA 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D8E2F3"/>
                </a:solidFill>
                <a:latin typeface="Segoe UI"/>
              </a:rPr>
              <a:t>Kamu Evrak ve Yazışma Süreçleri için Akıllı Agent Destek Sistemi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063240"/>
            <a:ext cx="2359152" cy="502920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" y="3200400"/>
            <a:ext cx="228600" cy="228600"/>
          </a:xfrm>
          <a:prstGeom prst="ellipse">
            <a:avLst/>
          </a:prstGeom>
          <a:solidFill>
            <a:srgbClr val="1B6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163824"/>
            <a:ext cx="1901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Şeyma Nur Çebi</a:t>
            </a:r>
            <a:r>
              <a:rPr sz="1000" b="0">
                <a:solidFill>
                  <a:srgbClr val="9FB4D8"/>
                </a:solidFill>
                <a:latin typeface="Segoe UI"/>
              </a:rPr>
              <a:t>  · Kaptan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3063240"/>
            <a:ext cx="2167128" cy="502920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11296" y="3200400"/>
            <a:ext cx="228600" cy="228600"/>
          </a:xfrm>
          <a:prstGeom prst="ellipse">
            <a:avLst/>
          </a:prstGeom>
          <a:solidFill>
            <a:srgbClr val="6C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3163824"/>
            <a:ext cx="17099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3063240"/>
            <a:ext cx="1463040" cy="502920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61304" y="3200400"/>
            <a:ext cx="228600" cy="2286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163824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Emine Elik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3063240"/>
            <a:ext cx="1563624" cy="502920"/>
          </a:xfrm>
          <a:prstGeom prst="roundRect">
            <a:avLst>
              <a:gd name="adj" fmla="val 3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07224" y="3200400"/>
            <a:ext cx="228600" cy="228600"/>
          </a:xfrm>
          <a:prstGeom prst="ellipse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3163824"/>
            <a:ext cx="11064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Zeynep Akel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77639"/>
            <a:ext cx="6766560" cy="640080"/>
          </a:xfrm>
          <a:prstGeom prst="roundRect">
            <a:avLst>
              <a:gd name="adj" fmla="val 1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114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FB4D8"/>
                </a:solidFill>
                <a:latin typeface="Segoe UI Semibold"/>
              </a:rPr>
              <a:t>Depo:  </a:t>
            </a:r>
            <a:r>
              <a:rPr sz="1200" b="0">
                <a:solidFill>
                  <a:srgbClr val="FFFFFF"/>
                </a:solidFill>
                <a:latin typeface="Consolas"/>
              </a:rPr>
              <a:t>github.com/msgxr/teknofest-2026-kamu-evrak-akilli-ajan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754880"/>
            <a:ext cx="6766560" cy="640080"/>
          </a:xfrm>
          <a:prstGeom prst="roundRect">
            <a:avLst>
              <a:gd name="adj" fmla="val 10000"/>
            </a:avLst>
          </a:prstGeom>
          <a:solidFill>
            <a:srgbClr val="162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FB4D8"/>
                </a:solidFill>
                <a:latin typeface="Segoe UI Semibold"/>
              </a:rPr>
              <a:t>İletişim:  </a:t>
            </a:r>
            <a:r>
              <a:rPr sz="1200" b="0">
                <a:solidFill>
                  <a:srgbClr val="F3B7C0"/>
                </a:solidFill>
                <a:latin typeface="Segoe UI"/>
              </a:rPr>
              <a:t>[takım e-postası — doldurulacak]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C7D5EC"/>
                </a:solidFill>
                <a:latin typeface="Segoe UI"/>
              </a:rPr>
              <a:t>Kamuya uygun, dürüst, açık kaynak ve </a:t>
            </a:r>
            <a:r>
              <a:rPr sz="1350" b="1">
                <a:solidFill>
                  <a:srgbClr val="FFFFFF"/>
                </a:solidFill>
                <a:latin typeface="Segoe UI Semibold"/>
              </a:rPr>
              <a:t>bugün çalışan</a:t>
            </a:r>
            <a:r>
              <a:rPr sz="1350" b="0">
                <a:solidFill>
                  <a:srgbClr val="C7D5EC"/>
                </a:solidFill>
                <a:latin typeface="Segoe UI"/>
              </a:rPr>
              <a:t> bir sistem sunuyoruz.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AGENTRA TECH — Takım Tanıtım Sunumu (TEKNOFEST 2026 TYDA · 1. Senaryo)</dc:title>
  <dc:subject/>
  <dc:creator>AGENTRA TECH</dc:creator>
  <cp:keywords/>
  <dc:description>generated using python-pptx</dc:description>
  <cp:lastModifiedBy>AGENTRA TECH</cp:lastModifiedBy>
  <cp:revision>1</cp:revision>
  <dcterms:created xsi:type="dcterms:W3CDTF">2013-01-27T09:14:16Z</dcterms:created>
  <dcterms:modified xsi:type="dcterms:W3CDTF">2013-01-27T09:15:58Z</dcterms:modified>
  <cp:category/>
</cp:coreProperties>
</file>