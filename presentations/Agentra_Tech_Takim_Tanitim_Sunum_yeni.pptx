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158984" y="923544"/>
            <a:ext cx="1097279" cy="41148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58984" y="923544"/>
            <a:ext cx="640079" cy="123444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158984" y="923544"/>
            <a:ext cx="1463040" cy="169164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9793224" y="923544"/>
            <a:ext cx="365760" cy="100584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0799063" y="1335024"/>
            <a:ext cx="457200" cy="82296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256263" y="1335024"/>
            <a:ext cx="365761" cy="128016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793224" y="1335024"/>
            <a:ext cx="1463039" cy="59436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799063" y="2157984"/>
            <a:ext cx="822961" cy="45720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9793224" y="1929384"/>
            <a:ext cx="1005839" cy="22860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793224" y="1929384"/>
            <a:ext cx="1828800" cy="68580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0058400" y="82296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0" y="123444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98480" y="205740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521440" y="251460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92640" y="182880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1371600"/>
            <a:ext cx="8412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93A8CE"/>
                </a:solidFill>
                <a:latin typeface="Segoe UI Semibold"/>
              </a:rPr>
              <a:t>TEKNOFEST 2026 · YAPAY ZEKA DİL AJANLARI YARIŞMASI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181051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6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127248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Takım Tanıtım Sunumu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50" b="0">
                <a:solidFill>
                  <a:srgbClr val="C4CFE1"/>
                </a:solidFill>
                <a:latin typeface="Segoe UI"/>
              </a:rPr>
              <a:t>Kamu Evrak ve Yazışma Süreçleri için Akıllı Agent Destek Sistemi · 1. Senaryo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37760"/>
            <a:ext cx="2066543" cy="438912"/>
          </a:xfrm>
          <a:prstGeom prst="roundRect">
            <a:avLst>
              <a:gd name="adj" fmla="val 50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FCCE2"/>
                </a:solidFill>
                <a:latin typeface="Segoe UI Semibold"/>
              </a:rPr>
              <a:t>4 Üye · 1 Kaptan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0" y="4937760"/>
            <a:ext cx="1664208" cy="438912"/>
          </a:xfrm>
          <a:prstGeom prst="roundRect">
            <a:avLst>
              <a:gd name="adj" fmla="val 50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FCCE2"/>
                </a:solidFill>
                <a:latin typeface="Segoe UI Semibold"/>
              </a:rPr>
              <a:t>Kuruluş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92624" y="4937760"/>
            <a:ext cx="1563624" cy="438912"/>
          </a:xfrm>
          <a:prstGeom prst="roundRect">
            <a:avLst>
              <a:gd name="adj" fmla="val 50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FCCE2"/>
                </a:solidFill>
                <a:latin typeface="Segoe UI Semibold"/>
              </a:rPr>
              <a:t>Açık Kaynak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9729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EBDD8"/>
                </a:solidFill>
                <a:latin typeface="Segoe UI Semibold"/>
              </a:rPr>
              <a:t>Takım Kaptanı: Şeyma Nur Çebi</a:t>
            </a:r>
            <a:r>
              <a:rPr sz="1400" b="0">
                <a:solidFill>
                  <a:srgbClr val="7E8FAE"/>
                </a:solidFill>
                <a:latin typeface="Segoe UI"/>
              </a:rPr>
              <a:t>   · 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TAKIMIMIZ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Kısaca Biz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64208"/>
            <a:ext cx="215798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10512"/>
            <a:ext cx="82296" cy="1124712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92224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2E5A87"/>
                </a:solidFill>
                <a:latin typeface="Segoe UI Semibold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368296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Takım üyesi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5496" y="1664208"/>
            <a:ext cx="215798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25496" y="1810512"/>
            <a:ext cx="82296" cy="1124712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9815" y="1792224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4263F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3" y="2368296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Takım kaptanı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84064" y="1664208"/>
            <a:ext cx="215798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84064" y="1810512"/>
            <a:ext cx="82296" cy="1124712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3" y="1792224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2E5A87"/>
                </a:solidFill>
                <a:latin typeface="Segoe UI Semibold"/>
              </a:rPr>
              <a:t>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368296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Kuruluş yılı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2631" y="1664208"/>
            <a:ext cx="215798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42631" y="1810512"/>
            <a:ext cx="82296" cy="1124712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2" y="1792224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4263F"/>
                </a:solidFill>
                <a:latin typeface="Segoe UI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368296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Farklı üniversite · 3 mühendislik dalı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664208"/>
            <a:ext cx="2157984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0" y="1810512"/>
            <a:ext cx="82296" cy="1124712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792224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2E5A87"/>
                </a:solidFill>
                <a:latin typeface="Segoe UI Semibold"/>
              </a:rPr>
              <a:t>Açık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368296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Kaynak · Apache 2.0 · tamamı Türkçe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10128"/>
            <a:ext cx="11055096" cy="117043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91440" cy="1170432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456432"/>
            <a:ext cx="10515600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1E2A3A"/>
                </a:solidFill>
                <a:latin typeface="Segoe UI"/>
              </a:rPr>
              <a:t>Biz </a:t>
            </a:r>
            <a:r>
              <a:rPr sz="1600" b="1">
                <a:solidFill>
                  <a:srgbClr val="1E2A3A"/>
                </a:solidFill>
                <a:latin typeface="Segoe UI Semibold"/>
              </a:rPr>
              <a:t>AGENTRA TECH</a:t>
            </a:r>
            <a:r>
              <a:rPr sz="1550" b="0">
                <a:solidFill>
                  <a:srgbClr val="1E2A3A"/>
                </a:solidFill>
                <a:latin typeface="Segoe UI"/>
              </a:rPr>
              <a:t>; TEKNOFEST 2026 için bir araya gelen, </a:t>
            </a:r>
            <a:r>
              <a:rPr sz="1550" b="1">
                <a:solidFill>
                  <a:srgbClr val="2E5A87"/>
                </a:solidFill>
                <a:latin typeface="Segoe UI Semibold"/>
              </a:rPr>
              <a:t>Türkçe dil teknolojileri ve akıllı ajan sistemleri</a:t>
            </a:r>
            <a:r>
              <a:rPr sz="1550" b="0">
                <a:solidFill>
                  <a:srgbClr val="1E2A3A"/>
                </a:solidFill>
                <a:latin typeface="Segoe UI"/>
              </a:rPr>
              <a:t> üzerine çalışan 4 kişilik bir öğrenci takımıyız.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300" b="0">
                <a:solidFill>
                  <a:srgbClr val="64728A"/>
                </a:solidFill>
                <a:latin typeface="Segoe UI"/>
              </a:rPr>
              <a:t>Adımızın merkezinde “agent” var: kararları izlenebilir, tamamen açık kaynak bir sistem geliştiriyoruz.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809744"/>
            <a:ext cx="2220163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292608" cy="292608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956048"/>
            <a:ext cx="165323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E2A3A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88259" y="4809744"/>
            <a:ext cx="2554833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152851" y="4965192"/>
            <a:ext cx="292608" cy="292608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6899" y="4956048"/>
            <a:ext cx="1987905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E2A3A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44260" y="4809744"/>
            <a:ext cx="1773936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8852" y="4965192"/>
            <a:ext cx="292608" cy="292608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2900" y="4956048"/>
            <a:ext cx="12070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E2A3A"/>
                </a:solidFill>
                <a:latin typeface="Segoe UI Semibold"/>
              </a:rPr>
              <a:t>Emine Elik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19364" y="4809744"/>
            <a:ext cx="1885492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83956" y="4965192"/>
            <a:ext cx="292608" cy="292608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8004" y="4956048"/>
            <a:ext cx="13185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E2A3A"/>
                </a:solidFill>
                <a:latin typeface="Segoe UI Semibold"/>
              </a:rPr>
              <a:t>Zeynep Akel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Şartname m.3.1: bu sunum takımın organizasyon yapısını, ekip üyelerini ve görev dağılımını tanıtır.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KIMLIĞIMIZ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Kuruluşumuz, Amacımız ve Değerlerimiz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27632"/>
            <a:ext cx="5806440" cy="422452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91440" cy="4224528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10512"/>
            <a:ext cx="5349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E2A3A"/>
                </a:solidFill>
                <a:latin typeface="Segoe UI Semibold"/>
              </a:rPr>
              <a:t>Kuruluş &amp; 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77440"/>
            <a:ext cx="5394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E5A87"/>
                </a:solidFill>
                <a:latin typeface="Segoe UI Semibold"/>
              </a:rPr>
              <a:t>Kuruluş: </a:t>
            </a:r>
            <a:r>
              <a:rPr sz="1400" b="1">
                <a:solidFill>
                  <a:srgbClr val="1E2A3A"/>
                </a:solidFill>
                <a:latin typeface="Segoe UI Semibold"/>
              </a:rPr>
              <a:t>2026</a:t>
            </a:r>
            <a:r>
              <a:rPr sz="1300" b="0">
                <a:solidFill>
                  <a:srgbClr val="1E2A3A"/>
                </a:solidFill>
                <a:latin typeface="Segoe UI"/>
              </a:rPr>
              <a:t>   ·   4 kişilik öğrenci takımı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2E5A87"/>
                </a:solidFill>
                <a:latin typeface="Segoe UI Semibold"/>
              </a:rPr>
              <a:t>Takım adı: </a:t>
            </a:r>
            <a:r>
              <a:rPr sz="1350" b="0">
                <a:solidFill>
                  <a:srgbClr val="1E2A3A"/>
                </a:solidFill>
                <a:latin typeface="Segoe UI"/>
              </a:rPr>
              <a:t>AGENTRA TECH — merkezinde “agent” (ajan) odağı vardır.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5A87"/>
                </a:solidFill>
                <a:latin typeface="Segoe UI Semibold"/>
              </a:rPr>
              <a:t>Amacımız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1E2A3A"/>
                </a:solidFill>
                <a:latin typeface="Segoe UI"/>
              </a:rPr>
              <a:t>Kamu evrak ve yazışma süreçlerini okuyan, anlayan, eksiğini bulan, mevzuat öneren, resmî yazı taslaklayıp doğru birime yönlendiren; çok ajanlı, offline-first ve yerli bir yapay zekâ sistemiyle uçtan uca otomatikleştirmek.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55648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1E2A3A"/>
                </a:solidFill>
                <a:latin typeface="Segoe UI Semibold"/>
              </a:rPr>
              <a:t>Değerlerimiz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350008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350008"/>
            <a:ext cx="91440" cy="841248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247802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E2A3A"/>
                </a:solidFill>
                <a:latin typeface="Segoe UI Semibold"/>
              </a:rPr>
              <a:t>Güvenilirlik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03136" y="2825496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Her karar bir güven skoruyla gelir.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3282696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3282696"/>
            <a:ext cx="91440" cy="841248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03136" y="341071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E2A3A"/>
                </a:solidFill>
                <a:latin typeface="Segoe UI Semibold"/>
              </a:rPr>
              <a:t>Şeffaflık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3136" y="3758183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Her öneri gerekçe ve madde dayanağı taşır.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215383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4215383"/>
            <a:ext cx="91440" cy="841248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03136" y="4343399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E2A3A"/>
                </a:solidFill>
                <a:latin typeface="Segoe UI Semibold"/>
              </a:rPr>
              <a:t>Veri Koruması (KVKK)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3136" y="4690871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Kişisel veri sızdırılmaz; yerli ve offline.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5148071"/>
            <a:ext cx="50292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5148071"/>
            <a:ext cx="91440" cy="841248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5276087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E2A3A"/>
                </a:solidFill>
                <a:latin typeface="Segoe UI Semibold"/>
              </a:rPr>
              <a:t>Dürüstlük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23559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Ölçümler ne çıkarsa olduğu gibi raporlanır.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ORGANIZASYON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Takımı Nasıl Örgütledik?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35527" y="1591056"/>
            <a:ext cx="5120640" cy="822960"/>
          </a:xfrm>
          <a:prstGeom prst="roundRect">
            <a:avLst>
              <a:gd name="adj" fmla="val 8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AGENTRA TECH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DD8"/>
                </a:solidFill>
                <a:latin typeface="Segoe UI"/>
              </a:rPr>
              <a:t>4 kişilik takım · Kuruluş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84874" y="2414016"/>
            <a:ext cx="21945" cy="548640"/>
          </a:xfrm>
          <a:prstGeom prst="rect">
            <a:avLst/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63547" y="2962656"/>
            <a:ext cx="8461857" cy="21945"/>
          </a:xfrm>
          <a:prstGeom prst="rect">
            <a:avLst/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63547" y="2962656"/>
            <a:ext cx="21945" cy="420623"/>
          </a:xfrm>
          <a:prstGeom prst="rect">
            <a:avLst/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76851" y="2962656"/>
            <a:ext cx="21945" cy="420623"/>
          </a:xfrm>
          <a:prstGeom prst="rect">
            <a:avLst/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0155" y="2962656"/>
            <a:ext cx="21945" cy="420623"/>
          </a:xfrm>
          <a:prstGeom prst="rect">
            <a:avLst/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303459" y="2962656"/>
            <a:ext cx="21945" cy="420623"/>
          </a:xfrm>
          <a:prstGeom prst="rect">
            <a:avLst/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3383280"/>
            <a:ext cx="26151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383280"/>
            <a:ext cx="2615184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545336" y="3584448"/>
            <a:ext cx="658368" cy="658368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34256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2A3A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36592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İçerik Analizi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Değerlendirme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16151" y="3218688"/>
            <a:ext cx="1316736" cy="329184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★ TAKIM KAPTANI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0232" y="3383280"/>
            <a:ext cx="26151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0232" y="3383280"/>
            <a:ext cx="2615184" cy="91440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58640" y="3584448"/>
            <a:ext cx="658368" cy="658368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1672" y="4334256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2A3A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3384" y="4736592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Mimari &amp;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Orkestrasyon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3536" y="3383280"/>
            <a:ext cx="26151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3536" y="3383280"/>
            <a:ext cx="2615184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71944" y="3584448"/>
            <a:ext cx="658368" cy="658368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4976" y="4334256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2A3A"/>
                </a:solidFill>
                <a:latin typeface="Segoe UI Semibold"/>
              </a:rPr>
              <a:t>Zeynep Akel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6688" y="4736592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Etkileşim · Yönlendirme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· KVKK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383280"/>
            <a:ext cx="2615184" cy="19385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6840" y="3383280"/>
            <a:ext cx="2615184" cy="91440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85248" y="3584448"/>
            <a:ext cx="658368" cy="658368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4334256"/>
            <a:ext cx="24323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2A3A"/>
                </a:solidFill>
                <a:latin typeface="Segoe UI Semibold"/>
              </a:rPr>
              <a:t>Emine Elik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4736592"/>
            <a:ext cx="24688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Veri · Test ·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Doküman · Sunum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614416"/>
            <a:ext cx="11055096" cy="676656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74243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Kaptan Şeyma Nur Çebi ekibi koordine eder; kararlar ortak GitHub deposu üzerinden şeffaf yürür. Her uzmanlık alanı bir sorumluya bağlıdır.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EKIP ÜYELERI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Takım Üyeleri ve Sorumlulukları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17904"/>
            <a:ext cx="5486400" cy="21579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17904"/>
            <a:ext cx="118872" cy="2157984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1847088"/>
            <a:ext cx="804672" cy="804672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65376" y="1792224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E2A3A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3664" y="2267712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5A87"/>
                </a:solidFill>
                <a:latin typeface="Segoe UI Semibold"/>
              </a:rPr>
              <a:t>Yazılım Müh. · 3. Sınıf · Arel Üni.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83664" y="2615184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54096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Görev 1 içerik analizi: sınıflandırma, bilgi çıkarımı, mevzuat RAG; değerlendirme ve entegrasyon.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1728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★ KAPTAN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1517904"/>
            <a:ext cx="5486400" cy="21579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1517904"/>
            <a:ext cx="118872" cy="2157984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19088" y="1847088"/>
            <a:ext cx="804672" cy="804672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1792224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E2A3A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1504" y="2267712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5A87"/>
                </a:solidFill>
                <a:latin typeface="Segoe UI Semibold"/>
              </a:rPr>
              <a:t>Bilgisayar Müh. · 3. Sınıf · Arel Üni.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1504" y="261518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054096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Mimari ve orkestrasyon; model-agnostik LLM katmanı; Görev 2 taslak üretimi (OCR, özet).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85615"/>
            <a:ext cx="5486400" cy="21579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785615"/>
            <a:ext cx="118872" cy="2157984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1247" y="4114800"/>
            <a:ext cx="804672" cy="804672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4059935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E2A3A"/>
                </a:solidFill>
                <a:latin typeface="Segoe UI Semibold"/>
              </a:rPr>
              <a:t>Emine Elik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" y="4535424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5A87"/>
                </a:solidFill>
                <a:latin typeface="Segoe UI Semibold"/>
              </a:rPr>
              <a:t>Maden Müh. · 1. Sınıf · Cerrahpaşa Üni.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83664" y="4882896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5321807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Veri seti ve etiketleme; test kapsamı; dokümantasyon; sunum ve demo; şartname uyumu.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785615"/>
            <a:ext cx="5486400" cy="21579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785615"/>
            <a:ext cx="118872" cy="2157984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19088" y="4114800"/>
            <a:ext cx="804672" cy="804672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Segoe UI Semibold"/>
              </a:rPr>
              <a:t>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6" y="4059935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1">
                <a:solidFill>
                  <a:srgbClr val="1E2A3A"/>
                </a:solidFill>
                <a:latin typeface="Segoe UI Semibold"/>
              </a:rPr>
              <a:t>Zeynep Akel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4535424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5A87"/>
                </a:solidFill>
                <a:latin typeface="Segoe UI Semibold"/>
              </a:rPr>
              <a:t>Yazılım Müh. · 3. Sınıf · Biruni Üni.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61504" y="48828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YAZILIM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5321807"/>
            <a:ext cx="49194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Görev 1 eksik bilgi; Görev 2 yönlendirme ve kullanıcı etkileşimi; triyaj, KVKK; web arayüzü.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998464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4 üye · 3 üniversite · Yazılım, Bilgisayar ve Maden Mühendisliği öğrencileri.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GÖREV DAĞILIMI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Görev Dağılımımız · Şartname m.6.4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36192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36192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486400" cy="146304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30428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OCR / metin okuma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10912" y="2276856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2692908"/>
            <a:ext cx="5266944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82092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30852" y="2793491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3756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Bilgi çıkarımı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30852" y="3310127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3726179"/>
            <a:ext cx="5266944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854195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Eksik bilgi tespiti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18888" y="3826763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4370831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30852" y="4343399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" y="4759451"/>
            <a:ext cx="5266944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88746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Özet oluşturma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0912" y="4860035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536192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536192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883664"/>
            <a:ext cx="5486400" cy="146304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1554480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230428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Resmî yazı taslağı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88752" y="2276856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2692908"/>
            <a:ext cx="5266944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282092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88752" y="2793491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333756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Birim yönlendirme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96728" y="3310127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54496" y="3726179"/>
            <a:ext cx="5266944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854195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96728" y="3826763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4370831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Eksik bilgi talebi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96728" y="4343399"/>
            <a:ext cx="978408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54496" y="4759451"/>
            <a:ext cx="5266944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488746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Altyapı: veri · test · doküman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92740" y="4860035"/>
            <a:ext cx="882396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Emine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43153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Her yetenek bir sorumluya ve gerçek bir kod modülüne bağlıdır.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4768" y="5413248"/>
            <a:ext cx="548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64728A"/>
                </a:solidFill>
                <a:latin typeface="Segoe UI Semibold"/>
              </a:rPr>
              <a:t>Ekip: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53949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Şeyma Nur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7575" y="539496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Sina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7111" y="539496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Zeynep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39528" y="53949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Segoe UI Semibold"/>
              </a:rPr>
              <a:t>Emine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ÇALIŞMA BIÇIMIMIZ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Nasıl Çalışıyoruz?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10512"/>
            <a:ext cx="1976932" cy="713232"/>
          </a:xfrm>
          <a:prstGeom prst="roundRect">
            <a:avLst>
              <a:gd name="adj" fmla="val 12000"/>
            </a:avLst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Fikir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2148" y="2029968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36468" y="1810512"/>
            <a:ext cx="1976932" cy="713232"/>
          </a:xfrm>
          <a:prstGeom prst="roundRect">
            <a:avLst>
              <a:gd name="adj" fmla="val 12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Geliştirme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31689" y="2029968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06009" y="1810512"/>
            <a:ext cx="1976932" cy="713232"/>
          </a:xfrm>
          <a:prstGeom prst="roundRect">
            <a:avLst>
              <a:gd name="adj" fmla="val 12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Test &amp; Ölçüm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01230" y="2029968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75550" y="1810512"/>
            <a:ext cx="1976932" cy="713232"/>
          </a:xfrm>
          <a:prstGeom prst="roundRect">
            <a:avLst>
              <a:gd name="adj" fmla="val 12000"/>
            </a:avLst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Dürüst Rapor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70771" y="2029968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45091" y="1810512"/>
            <a:ext cx="1976932" cy="713232"/>
          </a:xfrm>
          <a:prstGeom prst="roundRect">
            <a:avLst>
              <a:gd name="adj" fmla="val 12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İyileştirme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6700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Her özellik; fikirden koda, otomatik testlere ve dürüst ölçüme kadar aynı döngüden geçer.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18688"/>
            <a:ext cx="359359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3218688"/>
            <a:ext cx="3593592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93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/>
            </a:r>
            <a:r>
              <a:rPr sz="1500" b="1">
                <a:solidFill>
                  <a:srgbClr val="1E2A3A"/>
                </a:solidFill>
                <a:latin typeface="Segoe UI Semibold"/>
              </a:rPr>
              <a:t>Açık ve İzlenebilir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41648"/>
            <a:ext cx="3136392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Ortak GitHub deposu (Apache 2.0)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Her karar kayıt altında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Tüm dokümantasyon Türkçe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3218688"/>
            <a:ext cx="359359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8536" y="3218688"/>
            <a:ext cx="3593592" cy="91440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4568" y="3493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/>
            </a:r>
            <a:r>
              <a:rPr sz="1500" b="1">
                <a:solidFill>
                  <a:srgbClr val="1E2A3A"/>
                </a:solidFill>
                <a:latin typeface="Segoe UI Semibold"/>
              </a:rPr>
              <a:t>Sürekli Entegrasyon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4041648"/>
            <a:ext cx="3136392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263F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En az haftalık commit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263F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500+ otomatik test yeşil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263F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Her katkı gözden geçirilir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0144" y="3218688"/>
            <a:ext cx="3593592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10144" y="3218688"/>
            <a:ext cx="3593592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6176" y="3493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/>
            </a:r>
            <a:r>
              <a:rPr sz="1500" b="1">
                <a:solidFill>
                  <a:srgbClr val="1E2A3A"/>
                </a:solidFill>
                <a:latin typeface="Segoe UI Semibold"/>
              </a:rPr>
              <a:t>Dürüst Ölçüm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4041648"/>
            <a:ext cx="3136392" cy="1810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Düzenli değerlendirme ölçümü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Tutulmuş (held-out) setler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Sonuçlar olduğu gibi raporlanır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KISA PROJE TANITIMI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Ne Geliştiriyoruz?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91056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91440" cy="1060704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19072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1E2A3A"/>
                </a:solidFill>
                <a:latin typeface="Segoe UI"/>
              </a:rPr>
              <a:t>Kamu kurumlarına gelen evrağı </a:t>
            </a:r>
            <a:r>
              <a:rPr sz="1550" b="1">
                <a:solidFill>
                  <a:srgbClr val="2E5A87"/>
                </a:solidFill>
                <a:latin typeface="Segoe UI Semibold"/>
              </a:rPr>
              <a:t>okuyan · anlayan · eksiğini bulan · mevzuat öneren · taslaklayan · yönlendiren</a:t>
            </a:r>
            <a:r>
              <a:rPr sz="1550" b="0">
                <a:solidFill>
                  <a:srgbClr val="1E2A3A"/>
                </a:solidFill>
                <a:latin typeface="Segoe UI"/>
              </a:rPr>
              <a:t> çok ajanlı bir yapay zekâ sistemi.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11 uzman ajan + orkestratör · framework bağımsız saf Python · çevrimdışı-öncelikli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926080"/>
            <a:ext cx="1976932" cy="694944"/>
          </a:xfrm>
          <a:prstGeom prst="roundRect">
            <a:avLst>
              <a:gd name="adj" fmla="val 12000"/>
            </a:avLst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Girdi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2148" y="3136392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6468" y="2926080"/>
            <a:ext cx="1976932" cy="694944"/>
          </a:xfrm>
          <a:prstGeom prst="roundRect">
            <a:avLst>
              <a:gd name="adj" fmla="val 12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Orkestratör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1689" y="3136392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06009" y="2926080"/>
            <a:ext cx="1976932" cy="694944"/>
          </a:xfrm>
          <a:prstGeom prst="roundRect">
            <a:avLst>
              <a:gd name="adj" fmla="val 12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Görev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01230" y="3136392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75550" y="2926080"/>
            <a:ext cx="1976932" cy="694944"/>
          </a:xfrm>
          <a:prstGeom prst="roundRect">
            <a:avLst>
              <a:gd name="adj" fmla="val 12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Görev 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370771" y="3136392"/>
            <a:ext cx="23774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B4B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45091" y="2926080"/>
            <a:ext cx="1976932" cy="694944"/>
          </a:xfrm>
          <a:prstGeom prst="roundRect">
            <a:avLst>
              <a:gd name="adj" fmla="val 12000"/>
            </a:avLst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FFFFFF"/>
                </a:solidFill>
                <a:latin typeface="Segoe UI Semibold"/>
              </a:rPr>
              <a:t>12+ Çıktı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95344"/>
            <a:ext cx="54406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895344"/>
            <a:ext cx="5440680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69663"/>
            <a:ext cx="5038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/>
            </a:r>
            <a:r>
              <a:rPr sz="1500" b="1">
                <a:solidFill>
                  <a:srgbClr val="1E2A3A"/>
                </a:solidFill>
                <a:latin typeface="Segoe UI Semibold"/>
              </a:rPr>
              <a:t>Görev 1 — Sınıflandırma &amp; İçerik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18304"/>
            <a:ext cx="4983480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Metin/PDF/görüntü okuma (OCR) + tür belirleme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Bilgi çıkarımı · eksik bilgi tespiti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2E5A87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Mevzuat önerisi · kısa özet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3895344"/>
            <a:ext cx="544068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3895344"/>
            <a:ext cx="5440680" cy="91440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169663"/>
            <a:ext cx="50383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/>
            </a:r>
            <a:r>
              <a:rPr sz="1500" b="1">
                <a:solidFill>
                  <a:srgbClr val="1E2A3A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4718304"/>
            <a:ext cx="4983480" cy="987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263F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Resmî yazı taslağı (Yönetmelik uyumlu)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263F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Gerekçeli birim yönlendirme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14263F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1E2A3A"/>
                </a:solidFill>
                <a:latin typeface="Segoe UI"/>
              </a:rPr>
              <a:t>Kullanıcı bilgilendirme · eksik bilgi talebi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98017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64728A"/>
                </a:solidFill>
                <a:latin typeface="Segoe UI"/>
              </a:rPr>
              <a:t>Ayrıntılı teknik mimari, kod ve canlı demo final aşamasında sunulacaktır.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KANITIMIZ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Bugüne Kadar Ne Ürettik?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64208"/>
            <a:ext cx="271576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10512"/>
            <a:ext cx="82296" cy="1124712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792224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2E5A87"/>
                </a:solidFill>
                <a:latin typeface="Segoe UI Semibold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36829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Çalışan sistem · CLI + web arayüzü + 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1664208"/>
            <a:ext cx="271576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92424" y="1810512"/>
            <a:ext cx="82296" cy="1124712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6744" y="1792224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4263F"/>
                </a:solidFill>
                <a:latin typeface="Segoe UI Semibold"/>
              </a:rPr>
              <a:t>500</a:t>
            </a:r>
            <a:r>
              <a:rPr sz="1600" b="1">
                <a:solidFill>
                  <a:srgbClr val="14263F"/>
                </a:solidFill>
                <a:latin typeface="Segoe UI Semibold"/>
              </a:rPr>
              <a:t> 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236829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64208"/>
            <a:ext cx="271576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10512"/>
            <a:ext cx="82296" cy="1124712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792224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2E5A87"/>
                </a:solidFill>
                <a:latin typeface="Segoe UI Semibold"/>
              </a:rPr>
              <a:t>116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36829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3416" y="1664208"/>
            <a:ext cx="271576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43416" y="1810512"/>
            <a:ext cx="82296" cy="1124712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7736" y="1792224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4263F"/>
                </a:solidFill>
                <a:latin typeface="Segoe UI Semi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2368296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E2A3A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310128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310128"/>
            <a:ext cx="5440680" cy="109728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511296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2A3A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3986784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Sınıflandırma doğruluğu   </a:t>
            </a:r>
            <a:r>
              <a:rPr sz="1300" b="1">
                <a:solidFill>
                  <a:srgbClr val="2E5A87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Birim yönlendirme   </a:t>
            </a:r>
            <a:r>
              <a:rPr sz="1300" b="1">
                <a:solidFill>
                  <a:srgbClr val="2E5A87"/>
                </a:solidFill>
                <a:latin typeface="Segoe UI Semibold"/>
              </a:rPr>
              <a:t>0,96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Eksik-bilgi tespiti (F1)   </a:t>
            </a:r>
            <a:r>
              <a:rPr sz="1300" b="1">
                <a:solidFill>
                  <a:srgbClr val="2E5A87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Mevzuat isabet@3   </a:t>
            </a:r>
            <a:r>
              <a:rPr sz="1300" b="1">
                <a:solidFill>
                  <a:srgbClr val="2E5A87"/>
                </a:solidFill>
                <a:latin typeface="Segoe UI Semibold"/>
              </a:rPr>
              <a:t>0,96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310128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0488" y="3310128"/>
            <a:ext cx="5440680" cy="109728"/>
          </a:xfrm>
          <a:prstGeom prst="rect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1" y="3511296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E2A3A"/>
                </a:solidFill>
                <a:latin typeface="Segoe UI Semibold"/>
              </a:rPr>
              <a:t>Adversarial tutulmuş set · 16 evrak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1" y="3986784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Sınıflandırma doğruluğu   </a:t>
            </a:r>
            <a:r>
              <a:rPr sz="1300" b="1">
                <a:solidFill>
                  <a:srgbClr val="14263F"/>
                </a:solidFill>
                <a:latin typeface="Segoe UI Semibold"/>
              </a:rPr>
              <a:t>0,94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Birim yönlendirme   </a:t>
            </a:r>
            <a:r>
              <a:rPr sz="1300" b="1">
                <a:solidFill>
                  <a:srgbClr val="14263F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Eksik-bilgi tespiti (F1)   </a:t>
            </a:r>
            <a:r>
              <a:rPr sz="1300" b="1">
                <a:solidFill>
                  <a:srgbClr val="14263F"/>
                </a:solidFill>
                <a:latin typeface="Segoe UI Semibold"/>
              </a:rPr>
              <a:t>0,83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E2A3A"/>
                </a:solidFill>
                <a:latin typeface="Segoe UI"/>
              </a:rPr>
              <a:t>Mevzuat isabet@3   </a:t>
            </a:r>
            <a:r>
              <a:rPr sz="1300" b="1">
                <a:solidFill>
                  <a:srgbClr val="14263F"/>
                </a:solidFill>
                <a:latin typeface="Segoe UI Semibold"/>
              </a:rPr>
              <a:t>0,94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43153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64728A"/>
                </a:solidFill>
                <a:latin typeface="Segoe UI Semibold"/>
              </a:rPr>
              <a:t>Kaynak: </a:t>
            </a:r>
            <a:r>
              <a:rPr sz="1150" b="0">
                <a:solidFill>
                  <a:srgbClr val="1E2A3A"/>
                </a:solidFill>
                <a:latin typeface="Consolas"/>
              </a:rPr>
              <a:t>eval_report*.json</a:t>
            </a:r>
            <a:r>
              <a:rPr sz="1150" b="0">
                <a:solidFill>
                  <a:srgbClr val="64728A"/>
                </a:solidFill>
                <a:latin typeface="Segoe UI"/>
              </a:rPr>
              <a:t>  ·  tamamen çevrimdışı mod  ·  sonuçlar olduğu gibi raporlanır  ·  Apache 2.0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5A87"/>
                </a:solidFill>
                <a:latin typeface="Segoe UI Semibold"/>
              </a:rPr>
              <a:t>NEDEN BURADAYIZ?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94944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1E2A3A"/>
                </a:solidFill>
                <a:latin typeface="Segoe UI Semibold"/>
              </a:rPr>
              <a:t>Katılım Motivasyonumuz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27632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3566160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3852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60320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1104" y="1627632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61104" y="1627632"/>
            <a:ext cx="3566160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93852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560320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Kişisel veriyi 3. taraf API'ye sızdırmadan, tamamen yerel çalışan yerli çözüm.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627632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627632"/>
            <a:ext cx="3566160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93852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560320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Türkçe dil teknolojileri ekosistemine (TAKP) Apache 2.0 lisanslı katkı.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4176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94176"/>
            <a:ext cx="3566160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4005072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62686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1104" y="3694176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61104" y="3694176"/>
            <a:ext cx="3566160" cy="91440"/>
          </a:xfrm>
          <a:prstGeom prst="rect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4" y="4005072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2A3A"/>
                </a:solidFill>
                <a:latin typeface="Segoe UI Semibold"/>
              </a:rPr>
              <a:t>Takımın ilgisi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4626864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64728A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3694176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895344"/>
            <a:ext cx="312724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C9A24B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D8E2F3"/>
                </a:solidFill>
                <a:latin typeface="Segoe UI"/>
              </a:rPr>
              <a:t>“Her şeyi otomatikleştiren” değil; </a:t>
            </a:r>
            <a:r>
              <a:rPr sz="1300" b="1">
                <a:solidFill>
                  <a:srgbClr val="FFFFFF"/>
                </a:solidFill>
                <a:latin typeface="Segoe UI Semibold"/>
              </a:rPr>
              <a:t>doğru yerde insana devreden</a:t>
            </a:r>
            <a:r>
              <a:rPr sz="1300" b="0">
                <a:solidFill>
                  <a:srgbClr val="D8E2F3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2801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AGENTRA TECH   ·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4728A"/>
                </a:solidFill>
                <a:latin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149840" y="868680"/>
            <a:ext cx="1188720" cy="41148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149840" y="868680"/>
            <a:ext cx="548640" cy="123444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149840" y="868680"/>
            <a:ext cx="1371600" cy="169164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10698480" y="1280160"/>
            <a:ext cx="640080" cy="82296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338560" y="1280160"/>
            <a:ext cx="182880" cy="128016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98480" y="2103120"/>
            <a:ext cx="822960" cy="457200"/>
          </a:xfrm>
          <a:prstGeom prst="line">
            <a:avLst/>
          </a:prstGeom>
          <a:ln w="9525">
            <a:solidFill>
              <a:srgbClr val="2C3F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058400" y="77724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47120" y="118872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07040" y="201168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30000" y="2468880"/>
            <a:ext cx="182880" cy="182880"/>
          </a:xfrm>
          <a:prstGeom prst="ellipse">
            <a:avLst/>
          </a:prstGeom>
          <a:solidFill>
            <a:srgbClr val="3A5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93A8CE"/>
                </a:solidFill>
                <a:latin typeface="Segoe UI Semibold"/>
              </a:rPr>
              <a:t>TEŞEKKÜRLER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371600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800" b="1">
                <a:solidFill>
                  <a:srgbClr val="FFFFFF"/>
                </a:solidFill>
                <a:latin typeface="Segoe UI Semibold"/>
              </a:rPr>
              <a:t>AGENTRA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45059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C4CFE1"/>
                </a:solidFill>
                <a:latin typeface="Segoe UI"/>
              </a:rPr>
              <a:t>Organizasyon yapısı, ekip ve görev dağılımıyla; kamuya uygun bir yapay zekâ takımı.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255264"/>
            <a:ext cx="2688336" cy="566928"/>
          </a:xfrm>
          <a:prstGeom prst="roundRect">
            <a:avLst>
              <a:gd name="adj" fmla="val 30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7552" y="3401568"/>
            <a:ext cx="274320" cy="274320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3337560"/>
            <a:ext cx="21579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Şeyma Nur Çebi</a:t>
            </a:r>
            <a:r>
              <a:rPr sz="1100" b="0">
                <a:solidFill>
                  <a:srgbClr val="9FB0CE"/>
                </a:solidFill>
                <a:latin typeface="Segoe UI"/>
              </a:rPr>
              <a:t>  · Kaptan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12464" y="3255264"/>
            <a:ext cx="2510028" cy="566928"/>
          </a:xfrm>
          <a:prstGeom prst="roundRect">
            <a:avLst>
              <a:gd name="adj" fmla="val 30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77056" y="3401568"/>
            <a:ext cx="274320" cy="274320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2816" y="3337560"/>
            <a:ext cx="19796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23660" y="3255264"/>
            <a:ext cx="1709928" cy="566928"/>
          </a:xfrm>
          <a:prstGeom prst="roundRect">
            <a:avLst>
              <a:gd name="adj" fmla="val 30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8252" y="3401568"/>
            <a:ext cx="274320" cy="274320"/>
          </a:xfrm>
          <a:prstGeom prst="ellipse">
            <a:avLst/>
          </a:prstGeom>
          <a:solidFill>
            <a:srgbClr val="142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4012" y="3337560"/>
            <a:ext cx="11795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Emine Elik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34756" y="3255264"/>
            <a:ext cx="1824228" cy="566928"/>
          </a:xfrm>
          <a:prstGeom prst="roundRect">
            <a:avLst>
              <a:gd name="adj" fmla="val 30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99348" y="3401568"/>
            <a:ext cx="274320" cy="274320"/>
          </a:xfrm>
          <a:prstGeom prst="ellipse">
            <a:avLst/>
          </a:pr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5108" y="3337560"/>
            <a:ext cx="12938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Zeynep Akel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224528"/>
            <a:ext cx="8778240" cy="731520"/>
          </a:xfrm>
          <a:prstGeom prst="roundRect">
            <a:avLst>
              <a:gd name="adj" fmla="val 8000"/>
            </a:avLst>
          </a:prstGeom>
          <a:solidFill>
            <a:srgbClr val="1C3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389120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9FB0CE"/>
                </a:solidFill>
                <a:latin typeface="Segoe UI Semibold"/>
              </a:rPr>
              <a:t>Depo:  </a:t>
            </a:r>
            <a:r>
              <a:rPr sz="1400" b="0">
                <a:solidFill>
                  <a:srgbClr val="FFFFFF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376672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C4CFE1"/>
                </a:solidFill>
                <a:latin typeface="Segoe UI"/>
              </a:rPr>
              <a:t>Kamuya uygun, dürüst, açık kaynak ve </a:t>
            </a:r>
            <a:r>
              <a:rPr sz="1550" b="1">
                <a:solidFill>
                  <a:srgbClr val="FFFFFF"/>
                </a:solidFill>
                <a:latin typeface="Segoe UI Semibold"/>
              </a:rPr>
              <a:t>bugün çalışan</a:t>
            </a:r>
            <a:r>
              <a:rPr sz="1550" b="0">
                <a:solidFill>
                  <a:srgbClr val="C4CFE1"/>
                </a:solidFill>
                <a:latin typeface="Segoe UI"/>
              </a:rPr>
              <a:t> bir sistem geliştiren bir takımız.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