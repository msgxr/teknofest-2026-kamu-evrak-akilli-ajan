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0158984" y="923544"/>
            <a:ext cx="1097279" cy="41148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158984" y="923544"/>
            <a:ext cx="640079" cy="123444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158984" y="923544"/>
            <a:ext cx="1463040" cy="169164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793224" y="923544"/>
            <a:ext cx="365760" cy="100584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799063" y="1335024"/>
            <a:ext cx="457200" cy="82296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56263" y="1335024"/>
            <a:ext cx="365761" cy="128016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793224" y="1335024"/>
            <a:ext cx="1463039" cy="59436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799063" y="2157984"/>
            <a:ext cx="822961" cy="45720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9793224" y="1929384"/>
            <a:ext cx="1005839" cy="22860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793224" y="1929384"/>
            <a:ext cx="1828800" cy="68580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058400" y="822960"/>
            <a:ext cx="201168" cy="201168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0" y="1234440"/>
            <a:ext cx="201168" cy="201168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98480" y="2057400"/>
            <a:ext cx="201168" cy="201168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21440" y="2514600"/>
            <a:ext cx="201168" cy="201168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0" y="1828800"/>
            <a:ext cx="201168" cy="201168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371600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8FB0E8"/>
                </a:solidFill>
                <a:latin typeface="Segoe UI Semibold"/>
              </a:rPr>
              <a:t>TEKNOFEST 2026 · YAPAY ZEKA DİL AJANLARI YARIŞMASI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181051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600" b="1">
                <a:solidFill>
                  <a:srgbClr val="FFFFFF"/>
                </a:solidFill>
                <a:latin typeface="Segoe UI Semibold"/>
              </a:rPr>
              <a:t>AGENTRA TECH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2962656"/>
            <a:ext cx="301752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200400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Takım Tanıtım Sunumu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D5DEEF"/>
                </a:solidFill>
                <a:latin typeface="Segoe UI"/>
              </a:rPr>
              <a:t>Kamu Evrak ve Yazışma Süreçleri için Akıllı Agent Destek Sistemi · 1. Senaryo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92040"/>
            <a:ext cx="2066543" cy="438912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FD0EC"/>
                </a:solidFill>
                <a:latin typeface="Segoe UI Semibold"/>
              </a:rPr>
              <a:t>4 Üye · 1 Kaptan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892040"/>
            <a:ext cx="1664208" cy="438912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FD0EC"/>
                </a:solidFill>
                <a:latin typeface="Segoe UI Semibold"/>
              </a:rPr>
              <a:t>Kuruluş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2624" y="4892040"/>
            <a:ext cx="1563624" cy="438912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FD0EC"/>
                </a:solidFill>
                <a:latin typeface="Segoe UI Semibold"/>
              </a:rPr>
              <a:t>Açık Kaynak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790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AEC2E6"/>
                </a:solidFill>
                <a:latin typeface="Segoe UI Semibold"/>
              </a:rPr>
              <a:t>Takım Kaptanı: Şeyma Nur Çebi</a:t>
            </a:r>
            <a:r>
              <a:rPr sz="1400" b="0">
                <a:solidFill>
                  <a:srgbClr val="8296B6"/>
                </a:solidFill>
                <a:latin typeface="Segoe UI"/>
              </a:rPr>
              <a:t>   ·  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BIR BAKIŞTA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Takım Künyemiz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2157984" cy="1417320"/>
          </a:xfrm>
          <a:prstGeom prst="roundRect">
            <a:avLst>
              <a:gd name="adj" fmla="val 10000"/>
            </a:avLst>
          </a:prstGeom>
          <a:solidFill>
            <a:srgbClr val="EFF4FA"/>
          </a:solidFill>
          <a:ln w="19050">
            <a:solidFill>
              <a:srgbClr val="98B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28216"/>
            <a:ext cx="91440" cy="1161288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28216"/>
            <a:ext cx="184708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B6FC2"/>
                </a:solidFill>
                <a:latin typeface="Segoe UI Semibol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4287"/>
            <a:ext cx="1792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Takım üyesi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5496" y="1600200"/>
            <a:ext cx="2157984" cy="1417320"/>
          </a:xfrm>
          <a:prstGeom prst="roundRect">
            <a:avLst>
              <a:gd name="adj" fmla="val 10000"/>
            </a:avLst>
          </a:prstGeom>
          <a:solidFill>
            <a:srgbClr val="FBEEF0"/>
          </a:solidFill>
          <a:ln w="19050">
            <a:solidFill>
              <a:srgbClr val="E6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25496" y="1728216"/>
            <a:ext cx="91440" cy="11612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1728216"/>
            <a:ext cx="184708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C8102E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304287"/>
            <a:ext cx="1792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Takım kaptanı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600200"/>
            <a:ext cx="2157984" cy="1417320"/>
          </a:xfrm>
          <a:prstGeom prst="roundRect">
            <a:avLst>
              <a:gd name="adj" fmla="val 10000"/>
            </a:avLst>
          </a:prstGeom>
          <a:solidFill>
            <a:srgbClr val="F4F1FB"/>
          </a:solidFill>
          <a:ln w="19050">
            <a:solidFill>
              <a:srgbClr val="BCA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728216"/>
            <a:ext cx="91440" cy="1161288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7" y="1728216"/>
            <a:ext cx="184708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6C3FD1"/>
                </a:solidFill>
                <a:latin typeface="Segoe UI Semibold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304287"/>
            <a:ext cx="1792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Kuruluş yılı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631" y="1600200"/>
            <a:ext cx="2157984" cy="1417320"/>
          </a:xfrm>
          <a:prstGeom prst="roundRect">
            <a:avLst>
              <a:gd name="adj" fmla="val 10000"/>
            </a:avLst>
          </a:prstGeom>
          <a:solidFill>
            <a:srgbClr val="FDF3ED"/>
          </a:solidFill>
          <a:ln w="19050">
            <a:solidFill>
              <a:srgbClr val="F4B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42631" y="1728216"/>
            <a:ext cx="91440" cy="11612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0375" y="1728216"/>
            <a:ext cx="184708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590C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8663" y="2304287"/>
            <a:ext cx="1792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Farklı üniversite · 3 mühendislik dalı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600200"/>
            <a:ext cx="2157984" cy="1417320"/>
          </a:xfrm>
          <a:prstGeom prst="roundRect">
            <a:avLst>
              <a:gd name="adj" fmla="val 10000"/>
            </a:avLst>
          </a:prstGeom>
          <a:solidFill>
            <a:srgbClr val="F0F8F1"/>
          </a:solidFill>
          <a:ln w="19050">
            <a:solidFill>
              <a:srgbClr val="A1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728216"/>
            <a:ext cx="91440" cy="116128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1728216"/>
            <a:ext cx="184708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F9E44"/>
                </a:solidFill>
                <a:latin typeface="Segoe UI Semibold"/>
              </a:rPr>
              <a:t>Açık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304287"/>
            <a:ext cx="1792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Kaynak · Apache 2.0 · tamamı Türkçe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273552"/>
            <a:ext cx="11055096" cy="1170432"/>
          </a:xfrm>
          <a:prstGeom prst="roundRect">
            <a:avLst>
              <a:gd name="adj" fmla="val 6000"/>
            </a:avLst>
          </a:prstGeom>
          <a:solidFill>
            <a:srgbClr val="FCF3F4"/>
          </a:solidFill>
          <a:ln w="19050">
            <a:solidFill>
              <a:srgbClr val="E99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273552"/>
            <a:ext cx="91440" cy="1170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19856"/>
            <a:ext cx="105156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A2233"/>
                </a:solidFill>
                <a:latin typeface="Segoe UI Semibold"/>
              </a:rPr>
              <a:t>AGENTRA TECH</a:t>
            </a:r>
            <a:r>
              <a:rPr sz="1550" b="0">
                <a:solidFill>
                  <a:srgbClr val="1A2233"/>
                </a:solidFill>
                <a:latin typeface="Segoe UI"/>
              </a:rPr>
              <a:t> — TEKNOFEST 2026 Yapay Zeka Dil Ajanları Yarışması 1. Senaryo için kurulmuş, </a:t>
            </a:r>
            <a:r>
              <a:rPr sz="1550" b="1">
                <a:solidFill>
                  <a:srgbClr val="1A2233"/>
                </a:solidFill>
                <a:latin typeface="Segoe UI Semibold"/>
              </a:rPr>
              <a:t>Türkçe dil teknolojileri ve akıllı ajan sistemlerine</a:t>
            </a:r>
            <a:r>
              <a:rPr sz="1550" b="0">
                <a:solidFill>
                  <a:srgbClr val="1A2233"/>
                </a:solidFill>
                <a:latin typeface="Segoe UI"/>
              </a:rPr>
              <a:t> odaklı 4 kişilik öğrenci takımı.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B4A50"/>
                </a:solidFill>
                <a:latin typeface="Segoe UI"/>
              </a:rPr>
              <a:t>Kimliğimizin merkezinde “agent” odağı vardır: her kararı izlenebilir, açık kaynak bir çözüm.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91456"/>
            <a:ext cx="2220163" cy="621792"/>
          </a:xfrm>
          <a:prstGeom prst="roundRect">
            <a:avLst>
              <a:gd name="adj" fmla="val 30000"/>
            </a:avLst>
          </a:prstGeom>
          <a:solidFill>
            <a:srgbClr val="E8F0F8"/>
          </a:solidFill>
          <a:ln w="15875">
            <a:solidFill>
              <a:srgbClr val="8DB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4956048"/>
            <a:ext cx="310896" cy="310896"/>
          </a:xfrm>
          <a:prstGeom prst="ellipse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937760"/>
            <a:ext cx="16532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233"/>
                </a:solidFill>
                <a:latin typeface="Segoe UI Semibold"/>
              </a:rPr>
              <a:t>Şeyma Nur Çebi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88259" y="4791456"/>
            <a:ext cx="2554833" cy="621792"/>
          </a:xfrm>
          <a:prstGeom prst="roundRect">
            <a:avLst>
              <a:gd name="adj" fmla="val 30000"/>
            </a:avLst>
          </a:prstGeom>
          <a:solidFill>
            <a:srgbClr val="F0EBFA"/>
          </a:solidFill>
          <a:ln w="15875">
            <a:solidFill>
              <a:srgbClr val="B59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134563" y="4956048"/>
            <a:ext cx="310896" cy="310896"/>
          </a:xfrm>
          <a:prstGeom prst="ellipse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6899" y="4937760"/>
            <a:ext cx="198790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233"/>
                </a:solidFill>
                <a:latin typeface="Segoe UI Semibold"/>
              </a:rPr>
              <a:t>Muhammed Sina Gün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44260" y="4791456"/>
            <a:ext cx="1773936" cy="621792"/>
          </a:xfrm>
          <a:prstGeom prst="roundRect">
            <a:avLst>
              <a:gd name="adj" fmla="val 30000"/>
            </a:avLst>
          </a:prstGeom>
          <a:solidFill>
            <a:srgbClr val="FCEEE6"/>
          </a:solidFill>
          <a:ln w="15875">
            <a:solidFill>
              <a:srgbClr val="F3A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90564" y="4956048"/>
            <a:ext cx="310896" cy="31089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2900" y="4937760"/>
            <a:ext cx="120700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233"/>
                </a:solidFill>
                <a:latin typeface="Segoe UI Semibold"/>
              </a:rPr>
              <a:t>Emine Elik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19364" y="4791456"/>
            <a:ext cx="1885492" cy="621792"/>
          </a:xfrm>
          <a:prstGeom prst="roundRect">
            <a:avLst>
              <a:gd name="adj" fmla="val 30000"/>
            </a:avLst>
          </a:prstGeom>
          <a:solidFill>
            <a:srgbClr val="E6F6F1"/>
          </a:solidFill>
          <a:ln w="15875">
            <a:solidFill>
              <a:srgbClr val="85D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65668" y="4956048"/>
            <a:ext cx="310896" cy="310896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8004" y="4937760"/>
            <a:ext cx="13185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233"/>
                </a:solidFill>
                <a:latin typeface="Segoe UI Semibold"/>
              </a:rPr>
              <a:t>Zeynep Akel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742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85"/>
                </a:solidFill>
                <a:latin typeface="Segoe UI"/>
              </a:rPr>
              <a:t>Şartname m.3.1: bu sunum takımın organizasyon yapısını, ekip üyelerini ve görev dağılımını tanıtır.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KIMLIĞIMIZ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Kuruluşumuz, Amacımız ve Değerlerimiz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806440" cy="4224528"/>
          </a:xfrm>
          <a:prstGeom prst="roundRect">
            <a:avLst>
              <a:gd name="adj" fmla="val 5000"/>
            </a:avLst>
          </a:prstGeom>
          <a:solidFill>
            <a:srgbClr val="F7F5FC"/>
          </a:solidFill>
          <a:ln w="19050">
            <a:solidFill>
              <a:srgbClr val="BCA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91440" cy="4224528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A2233"/>
                </a:solidFill>
                <a:latin typeface="Segoe UI Semibold"/>
              </a:rPr>
              <a:t>Kuruluş &amp; Amaç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9152"/>
            <a:ext cx="53949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6C3FD1"/>
                </a:solidFill>
                <a:latin typeface="Segoe UI Semibold"/>
              </a:rPr>
              <a:t>Kuruluş: </a:t>
            </a:r>
            <a:r>
              <a:rPr sz="1400" b="1">
                <a:solidFill>
                  <a:srgbClr val="1A2233"/>
                </a:solidFill>
                <a:latin typeface="Segoe UI Semibold"/>
              </a:rPr>
              <a:t>2026</a:t>
            </a:r>
            <a:r>
              <a:rPr sz="1300" b="0">
                <a:solidFill>
                  <a:srgbClr val="1A2233"/>
                </a:solidFill>
                <a:latin typeface="Segoe UI"/>
              </a:rPr>
              <a:t>   ·   4 kişilik öğrenci takımı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6C3FD1"/>
                </a:solidFill>
                <a:latin typeface="Segoe UI Semibold"/>
              </a:rPr>
              <a:t>Takım adı: </a:t>
            </a:r>
            <a:r>
              <a:rPr sz="1350" b="0">
                <a:solidFill>
                  <a:srgbClr val="1A2233"/>
                </a:solidFill>
                <a:latin typeface="Segoe UI"/>
              </a:rPr>
              <a:t>AGENTRA TECH — merkezinde “agent” (ajan) odağı vardır.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C3FD1"/>
                </a:solidFill>
                <a:latin typeface="Segoe UI Semibold"/>
              </a:rPr>
              <a:t>Amacımız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A2233"/>
                </a:solidFill>
                <a:latin typeface="Segoe UI"/>
              </a:rPr>
              <a:t>Kamu evrak ve yazışma süreçlerini okuyan, anlayan, eksiğini bulan, mevzuat öneren, resmî yazı taslaklayıp doğru birime yönlendiren; çok ajanlı, offline-first ve yerli bir yapay zekâ sistemiyle uçtan uca otomatikleştirmek.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A2233"/>
                </a:solidFill>
                <a:latin typeface="Segoe UI Semibold"/>
              </a:rPr>
              <a:t>Değerlerimiz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331720"/>
            <a:ext cx="5029200" cy="841248"/>
          </a:xfrm>
          <a:prstGeom prst="roundRect">
            <a:avLst>
              <a:gd name="adj" fmla="val 10000"/>
            </a:avLst>
          </a:prstGeom>
          <a:solidFill>
            <a:srgbClr val="EFF4FA"/>
          </a:solidFill>
          <a:ln w="19050">
            <a:solidFill>
              <a:srgbClr val="8DB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331720"/>
            <a:ext cx="91440" cy="841248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03136" y="2532888"/>
            <a:ext cx="438912" cy="438912"/>
          </a:xfrm>
          <a:prstGeom prst="ellipse">
            <a:avLst/>
          </a:prstGeom>
          <a:solidFill>
            <a:srgbClr val="CC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A2233"/>
                </a:solidFill>
                <a:latin typeface="Segoe UI"/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45973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Güvenilirlik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07208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Her karar bir güven skoruyla gelir.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64408"/>
            <a:ext cx="5029200" cy="841248"/>
          </a:xfrm>
          <a:prstGeom prst="roundRect">
            <a:avLst>
              <a:gd name="adj" fmla="val 10000"/>
            </a:avLst>
          </a:prstGeom>
          <a:solidFill>
            <a:srgbClr val="F4F1FB"/>
          </a:solidFill>
          <a:ln w="19050">
            <a:solidFill>
              <a:srgbClr val="B59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3264408"/>
            <a:ext cx="91440" cy="841248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03136" y="3465576"/>
            <a:ext cx="438912" cy="438912"/>
          </a:xfrm>
          <a:prstGeom prst="ellipse">
            <a:avLst/>
          </a:prstGeom>
          <a:solidFill>
            <a:srgbClr val="DED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A2233"/>
                </a:solidFill>
                <a:latin typeface="Segoe U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3924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Şeffaflık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739896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Her öneri gerekçe ve madde dayanağı taşır.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197096"/>
            <a:ext cx="5029200" cy="841248"/>
          </a:xfrm>
          <a:prstGeom prst="roundRect">
            <a:avLst>
              <a:gd name="adj" fmla="val 10000"/>
            </a:avLst>
          </a:prstGeom>
          <a:solidFill>
            <a:srgbClr val="EDF8F5"/>
          </a:solidFill>
          <a:ln w="19050">
            <a:solidFill>
              <a:srgbClr val="85D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197096"/>
            <a:ext cx="91440" cy="841248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03136" y="4398264"/>
            <a:ext cx="438912" cy="438912"/>
          </a:xfrm>
          <a:prstGeom prst="ellipse">
            <a:avLst/>
          </a:prstGeom>
          <a:solidFill>
            <a:srgbClr val="C9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A2233"/>
                </a:solidFill>
                <a:latin typeface="Segoe UI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251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Veri Koruması (KVKK)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672583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Kişisel veri sızdırılmaz; yerli ve offline.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129783"/>
            <a:ext cx="5029200" cy="841248"/>
          </a:xfrm>
          <a:prstGeom prst="roundRect">
            <a:avLst>
              <a:gd name="adj" fmla="val 10000"/>
            </a:avLst>
          </a:prstGeom>
          <a:solidFill>
            <a:srgbClr val="FBEEF0"/>
          </a:solidFill>
          <a:ln w="19050">
            <a:solidFill>
              <a:srgbClr val="E38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5129783"/>
            <a:ext cx="91440" cy="8412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3136" y="5330951"/>
            <a:ext cx="438912" cy="438912"/>
          </a:xfrm>
          <a:prstGeom prst="ellipse">
            <a:avLst/>
          </a:prstGeom>
          <a:solidFill>
            <a:srgbClr val="F2C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A2233"/>
                </a:solidFill>
                <a:latin typeface="Segoe U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5779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Dürüstlük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605271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Ölçümler ne çıkarsa olduğu gibi raporlanır.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ORGANIZASYON YAPISI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Takımı Nasıl Örgütledik?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35527" y="1536192"/>
            <a:ext cx="5120640" cy="822960"/>
          </a:xfrm>
          <a:prstGeom prst="roundRect">
            <a:avLst>
              <a:gd name="adj" fmla="val 10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AGENTRA TECH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C2E6"/>
                </a:solidFill>
                <a:latin typeface="Segoe UI"/>
              </a:rPr>
              <a:t>4 kişilik takım · Kuruluş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4874" y="2359152"/>
            <a:ext cx="21945" cy="566928"/>
          </a:xfrm>
          <a:prstGeom prst="rect">
            <a:avLst/>
          </a:prstGeom>
          <a:solidFill>
            <a:srgbClr val="AEB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3547" y="2926080"/>
            <a:ext cx="8461857" cy="21945"/>
          </a:xfrm>
          <a:prstGeom prst="rect">
            <a:avLst/>
          </a:prstGeom>
          <a:solidFill>
            <a:srgbClr val="AEB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63547" y="2926080"/>
            <a:ext cx="21945" cy="420623"/>
          </a:xfrm>
          <a:prstGeom prst="rect">
            <a:avLst/>
          </a:prstGeom>
          <a:solidFill>
            <a:srgbClr val="AEB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76851" y="2926080"/>
            <a:ext cx="21945" cy="420623"/>
          </a:xfrm>
          <a:prstGeom prst="rect">
            <a:avLst/>
          </a:prstGeom>
          <a:solidFill>
            <a:srgbClr val="AEB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0155" y="2926080"/>
            <a:ext cx="21945" cy="420623"/>
          </a:xfrm>
          <a:prstGeom prst="rect">
            <a:avLst/>
          </a:prstGeom>
          <a:solidFill>
            <a:srgbClr val="AEB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03459" y="2926080"/>
            <a:ext cx="21945" cy="420623"/>
          </a:xfrm>
          <a:prstGeom prst="rect">
            <a:avLst/>
          </a:prstGeom>
          <a:solidFill>
            <a:srgbClr val="AEB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3346704"/>
            <a:ext cx="2615184" cy="1938528"/>
          </a:xfrm>
          <a:prstGeom prst="roundRect">
            <a:avLst>
              <a:gd name="adj" fmla="val 7000"/>
            </a:avLst>
          </a:prstGeom>
          <a:solidFill>
            <a:srgbClr val="F3F7FB"/>
          </a:solidFill>
          <a:ln w="19050">
            <a:solidFill>
              <a:srgbClr val="8DB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46704"/>
            <a:ext cx="2615184" cy="91440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45336" y="3529584"/>
            <a:ext cx="658368" cy="658368"/>
          </a:xfrm>
          <a:prstGeom prst="ellipse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 Semibold"/>
              </a:rPr>
              <a:t>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79392"/>
            <a:ext cx="2432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3"/>
                </a:solidFill>
                <a:latin typeface="Segoe UI Semibold"/>
              </a:rPr>
              <a:t>Şeyma Nur Çebi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81728"/>
            <a:ext cx="2468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6FC2"/>
                </a:solidFill>
                <a:latin typeface="Segoe UI Semibold"/>
              </a:rPr>
              <a:t>İçerik Analizi &amp;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6FC2"/>
                </a:solidFill>
                <a:latin typeface="Segoe UI Semibold"/>
              </a:rPr>
              <a:t>Değerlendirme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6151" y="3182112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★ TAKIM KAPTANI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232" y="3346704"/>
            <a:ext cx="2615184" cy="1938528"/>
          </a:xfrm>
          <a:prstGeom prst="roundRect">
            <a:avLst>
              <a:gd name="adj" fmla="val 7000"/>
            </a:avLst>
          </a:prstGeom>
          <a:solidFill>
            <a:srgbClr val="F7F5FC"/>
          </a:solidFill>
          <a:ln w="19050">
            <a:solidFill>
              <a:srgbClr val="B59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232" y="3346704"/>
            <a:ext cx="2615184" cy="91440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58640" y="3529584"/>
            <a:ext cx="658368" cy="658368"/>
          </a:xfrm>
          <a:prstGeom prst="ellipse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 Semibold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1672" y="4279392"/>
            <a:ext cx="2432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3"/>
                </a:solidFill>
                <a:latin typeface="Segoe UI Semibold"/>
              </a:rPr>
              <a:t>Muhammed Sina Gün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3384" y="4681728"/>
            <a:ext cx="2468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C3FD1"/>
                </a:solidFill>
                <a:latin typeface="Segoe UI Semibold"/>
              </a:rPr>
              <a:t>Mimari &amp;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C3FD1"/>
                </a:solidFill>
                <a:latin typeface="Segoe UI Semibold"/>
              </a:rPr>
              <a:t>Orkestrasyon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3536" y="3346704"/>
            <a:ext cx="2615184" cy="1938528"/>
          </a:xfrm>
          <a:prstGeom prst="roundRect">
            <a:avLst>
              <a:gd name="adj" fmla="val 7000"/>
            </a:avLst>
          </a:prstGeom>
          <a:solidFill>
            <a:srgbClr val="F2FAF8"/>
          </a:solidFill>
          <a:ln w="19050">
            <a:solidFill>
              <a:srgbClr val="85D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3536" y="3346704"/>
            <a:ext cx="2615184" cy="9144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71944" y="3529584"/>
            <a:ext cx="658368" cy="658368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 Semibold"/>
              </a:rPr>
              <a:t>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4976" y="4279392"/>
            <a:ext cx="2432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3"/>
                </a:solidFill>
                <a:latin typeface="Segoe UI Semibold"/>
              </a:rPr>
              <a:t>Zeynep Akel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6688" y="4681728"/>
            <a:ext cx="2468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A678"/>
                </a:solidFill>
                <a:latin typeface="Segoe UI Semibold"/>
              </a:rPr>
              <a:t>Etkileşim · Yönlendirme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A678"/>
                </a:solidFill>
                <a:latin typeface="Segoe UI Semibold"/>
              </a:rPr>
              <a:t>· KVKK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3346704"/>
            <a:ext cx="2615184" cy="1938528"/>
          </a:xfrm>
          <a:prstGeom prst="roundRect">
            <a:avLst>
              <a:gd name="adj" fmla="val 7000"/>
            </a:avLst>
          </a:prstGeom>
          <a:solidFill>
            <a:srgbClr val="FDF6F2"/>
          </a:solidFill>
          <a:ln w="19050">
            <a:solidFill>
              <a:srgbClr val="F3A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3346704"/>
            <a:ext cx="2615184" cy="914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85248" y="3529584"/>
            <a:ext cx="658368" cy="658368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 Semibold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279392"/>
            <a:ext cx="2432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3"/>
                </a:solidFill>
                <a:latin typeface="Segoe UI Semibold"/>
              </a:rPr>
              <a:t>Emine Elik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4681728"/>
            <a:ext cx="24688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0C"/>
                </a:solidFill>
                <a:latin typeface="Segoe UI Semibold"/>
              </a:rPr>
              <a:t>Veri · Test ·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90C"/>
                </a:solidFill>
                <a:latin typeface="Segoe UI Semibold"/>
              </a:rPr>
              <a:t>Doküman · Sunum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577840"/>
            <a:ext cx="11055096" cy="694944"/>
          </a:xfrm>
          <a:prstGeom prst="roundRect">
            <a:avLst>
              <a:gd name="adj" fmla="val 8000"/>
            </a:avLst>
          </a:prstGeom>
          <a:solidFill>
            <a:srgbClr val="E6E8EA"/>
          </a:solidFill>
          <a:ln w="19050">
            <a:solidFill>
              <a:srgbClr val="9298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7058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Kaptan Şeyma Nur Çebi ekibi koordine eder; kararlar ortak GitHub deposu üzerinden şeffaf yürür. Her uzmanlık alanı bir sorumluya bağlıdır.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EKIP ÜYELERI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Takım Üyeleri ve Sorumlulukları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99616"/>
            <a:ext cx="5486400" cy="2157984"/>
          </a:xfrm>
          <a:prstGeom prst="roundRect">
            <a:avLst>
              <a:gd name="adj" fmla="val 7000"/>
            </a:avLst>
          </a:prstGeom>
          <a:solidFill>
            <a:srgbClr val="F3F7FB"/>
          </a:solidFill>
          <a:ln w="19050">
            <a:solidFill>
              <a:srgbClr val="8DB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8872" cy="2157984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1828800"/>
            <a:ext cx="804672" cy="804672"/>
          </a:xfrm>
          <a:prstGeom prst="ellipse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 Semibold"/>
              </a:rPr>
              <a:t>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5376" y="1773936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1">
                <a:solidFill>
                  <a:srgbClr val="1A2233"/>
                </a:solidFill>
                <a:latin typeface="Segoe UI Semibold"/>
              </a:rPr>
              <a:t>Şeyma Nur Çebi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2249424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6FC2"/>
                </a:solidFill>
                <a:latin typeface="Segoe UI Semibold"/>
              </a:rPr>
              <a:t>Yazılım Müh. · 3. Sınıf · Arel Üni.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2596896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TAKIM KAPTANI · YAZILIM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35808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4405A"/>
                </a:solidFill>
                <a:latin typeface="Segoe UI"/>
              </a:rPr>
              <a:t>Görev 1 içerik analizi: sınıflandırma, bilgi çıkarımı, mevzuat RAG; değerlendirme ve entegrasyon.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73736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★ KAPTAN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499616"/>
            <a:ext cx="5486400" cy="2157984"/>
          </a:xfrm>
          <a:prstGeom prst="roundRect">
            <a:avLst>
              <a:gd name="adj" fmla="val 7000"/>
            </a:avLst>
          </a:prstGeom>
          <a:solidFill>
            <a:srgbClr val="F7F5FC"/>
          </a:solidFill>
          <a:ln w="19050">
            <a:solidFill>
              <a:srgbClr val="B59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499616"/>
            <a:ext cx="118872" cy="2157984"/>
          </a:xfrm>
          <a:prstGeom prst="rect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9088" y="1828800"/>
            <a:ext cx="804672" cy="804672"/>
          </a:xfrm>
          <a:prstGeom prst="ellipse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 Semibold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1773936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1">
                <a:solidFill>
                  <a:srgbClr val="1A2233"/>
                </a:solidFill>
                <a:latin typeface="Segoe UI Semibold"/>
              </a:rPr>
              <a:t>Muhammed Sina Gün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2249424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C3FD1"/>
                </a:solidFill>
                <a:latin typeface="Segoe UI Semibold"/>
              </a:rPr>
              <a:t>Bilgisayar Müh. · 3. Sınıf · Arel Üni.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25968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YAZILIM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35808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4405A"/>
                </a:solidFill>
                <a:latin typeface="Segoe UI"/>
              </a:rPr>
              <a:t>Mimari ve orkestrasyon; model-agnostik LLM katmanı; Görev 2 taslak üretimi (OCR, özet).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67328"/>
            <a:ext cx="5486400" cy="2157984"/>
          </a:xfrm>
          <a:prstGeom prst="roundRect">
            <a:avLst>
              <a:gd name="adj" fmla="val 7000"/>
            </a:avLst>
          </a:prstGeom>
          <a:solidFill>
            <a:srgbClr val="FDF6F2"/>
          </a:solidFill>
          <a:ln w="19050">
            <a:solidFill>
              <a:srgbClr val="F3A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767328"/>
            <a:ext cx="118872" cy="215798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096512"/>
            <a:ext cx="804672" cy="804672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 Semibold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5376" y="4041648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1">
                <a:solidFill>
                  <a:srgbClr val="1A2233"/>
                </a:solidFill>
                <a:latin typeface="Segoe UI Semibold"/>
              </a:rPr>
              <a:t>Emine Elik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3664" y="4517136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590C"/>
                </a:solidFill>
                <a:latin typeface="Segoe UI Semibold"/>
              </a:rPr>
              <a:t>Maden Müh. · 1. Sınıf · Cerrahpaşa Üni.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486460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VERİ · TEST · DOKÜMAN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303520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4405A"/>
                </a:solidFill>
                <a:latin typeface="Segoe UI"/>
              </a:rPr>
              <a:t>Veri seti ve etiketleme; test kapsamı; dokümantasyon; sunum ve demo; şartname uyumu.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767328"/>
            <a:ext cx="5486400" cy="2157984"/>
          </a:xfrm>
          <a:prstGeom prst="roundRect">
            <a:avLst>
              <a:gd name="adj" fmla="val 7000"/>
            </a:avLst>
          </a:prstGeom>
          <a:solidFill>
            <a:srgbClr val="F2FAF8"/>
          </a:solidFill>
          <a:ln w="19050">
            <a:solidFill>
              <a:srgbClr val="85D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3767328"/>
            <a:ext cx="118872" cy="2157984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19088" y="4096512"/>
            <a:ext cx="804672" cy="804672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 Semibold"/>
              </a:rPr>
              <a:t>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4041648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1">
                <a:solidFill>
                  <a:srgbClr val="1A2233"/>
                </a:solidFill>
                <a:latin typeface="Segoe UI Semibold"/>
              </a:rPr>
              <a:t>Zeynep Akel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4517136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CA678"/>
                </a:solidFill>
                <a:latin typeface="Segoe UI Semibold"/>
              </a:rPr>
              <a:t>Yazılım Müh. · 3. Sınıf · Biruni Üni.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61504" y="48646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YAZILIM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5303520"/>
            <a:ext cx="49194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4405A"/>
                </a:solidFill>
                <a:latin typeface="Segoe UI"/>
              </a:rPr>
              <a:t>Görev 1 eksik bilgi; Görev 2 yönlendirme ve kullanıcı etkileşimi; triyaj, KVKK; web arayüzü.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B85"/>
                </a:solidFill>
                <a:latin typeface="Segoe UI"/>
              </a:rPr>
              <a:t>4 üye · 3 üniversite · Yazılım, Bilgisayar ve Maden Mühendisliği öğrencileri.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GÖREV DAĞILIMI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Görev Dağılımımız · Şartname m.6.4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548640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1A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5486400" cy="512064"/>
          </a:xfrm>
          <a:prstGeom prst="roundRect">
            <a:avLst>
              <a:gd name="adj" fmla="val 5000"/>
            </a:avLst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5486400" cy="146304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GÖREV 1 — Sınıflandırma &amp; İçerik Analizi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OCR / metin okuma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0912" y="2276856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Sina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692908"/>
            <a:ext cx="5266944" cy="50292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82092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Tür belirleme (sınıflandırma)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0852" y="2793491"/>
            <a:ext cx="1266444" cy="310896"/>
          </a:xfrm>
          <a:prstGeom prst="roundRect">
            <a:avLst>
              <a:gd name="adj" fmla="val 50000"/>
            </a:avLst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Şeyma Nur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33756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Bilgi çıkarımı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0852" y="3310127"/>
            <a:ext cx="1266444" cy="310896"/>
          </a:xfrm>
          <a:prstGeom prst="roundRect">
            <a:avLst>
              <a:gd name="adj" fmla="val 50000"/>
            </a:avLst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Şeyma Nur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3726179"/>
            <a:ext cx="5266944" cy="50292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854195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Eksik bilgi tespiti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18888" y="3826763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Zeynep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370831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Mevzuat önerisi (BM25 RAG)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0852" y="4343399"/>
            <a:ext cx="1266444" cy="310896"/>
          </a:xfrm>
          <a:prstGeom prst="roundRect">
            <a:avLst>
              <a:gd name="adj" fmla="val 50000"/>
            </a:avLst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Şeyma Nur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4759451"/>
            <a:ext cx="5266944" cy="502920"/>
          </a:xfrm>
          <a:prstGeom prst="rect">
            <a:avLst/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887467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Özet oluşturma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4860035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Sina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1517904"/>
            <a:ext cx="5486400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2A3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44768" y="1517904"/>
            <a:ext cx="5486400" cy="512064"/>
          </a:xfrm>
          <a:prstGeom prst="roundRect">
            <a:avLst>
              <a:gd name="adj" fmla="val 5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883664"/>
            <a:ext cx="5486400" cy="14630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55448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GÖREV 2 — Taslaklama &amp; Yönlendirme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304288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Resmî yazı taslağı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88752" y="2276856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Sina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2692908"/>
            <a:ext cx="5266944" cy="502920"/>
          </a:xfrm>
          <a:prstGeom prst="rect">
            <a:avLst/>
          </a:prstGeom>
          <a:solidFill>
            <a:srgbClr val="FD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82092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Format öz-denetimi (üslup)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88752" y="2793491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Sina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33756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Birim yönlendirme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96728" y="3310127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Zeynep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3726179"/>
            <a:ext cx="5266944" cy="502920"/>
          </a:xfrm>
          <a:prstGeom prst="rect">
            <a:avLst/>
          </a:prstGeom>
          <a:solidFill>
            <a:srgbClr val="FD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854195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Kullanıcı bilgilendirme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96728" y="3826763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Zeynep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370831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Eksik bilgi talebi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96728" y="4343399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Zeynep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4759451"/>
            <a:ext cx="5266944" cy="502920"/>
          </a:xfrm>
          <a:prstGeom prst="rect">
            <a:avLst/>
          </a:prstGeom>
          <a:solidFill>
            <a:srgbClr val="FD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887467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Altyapı: veri · test · doküman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92740" y="4860035"/>
            <a:ext cx="882396" cy="310896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Emine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43153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85"/>
                </a:solidFill>
                <a:latin typeface="Segoe UI"/>
              </a:rPr>
              <a:t>Her yetenek bir sorumluya ve gerçek bir kod modülüne bağlıdır.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5413248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B85"/>
                </a:solidFill>
                <a:latin typeface="Segoe UI Semibold"/>
              </a:rPr>
              <a:t>Ekip: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20840" y="53949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Şeyma Nur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37575" y="539496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Sina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97111" y="53949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Zeynep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39528" y="53949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 Semibold"/>
              </a:rPr>
              <a:t>Emine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ÇALIŞMA BIÇIMIMIZ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Nasıl Çalışıyoruz?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755648"/>
            <a:ext cx="1976932" cy="713232"/>
          </a:xfrm>
          <a:prstGeom prst="roundRect">
            <a:avLst>
              <a:gd name="adj" fmla="val 16000"/>
            </a:avLst>
          </a:prstGeom>
          <a:solidFill>
            <a:srgbClr val="41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💡 Fikir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2148" y="1975104"/>
            <a:ext cx="23774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6468" y="1755648"/>
            <a:ext cx="1976932" cy="713232"/>
          </a:xfrm>
          <a:prstGeom prst="roundRect">
            <a:avLst>
              <a:gd name="adj" fmla="val 16000"/>
            </a:avLst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⚙️ Geliştirme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31689" y="1975104"/>
            <a:ext cx="23774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06009" y="1755648"/>
            <a:ext cx="1976932" cy="713232"/>
          </a:xfrm>
          <a:prstGeom prst="roundRect">
            <a:avLst>
              <a:gd name="adj" fmla="val 16000"/>
            </a:avLst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🧪 Test &amp; Ölçüm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01230" y="1975104"/>
            <a:ext cx="23774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75550" y="1755648"/>
            <a:ext cx="1976932" cy="713232"/>
          </a:xfrm>
          <a:prstGeom prst="roundRect">
            <a:avLst>
              <a:gd name="adj" fmla="val 16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📊 Dürüst Rapor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0771" y="1975104"/>
            <a:ext cx="23774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5091" y="1755648"/>
            <a:ext cx="1976932" cy="713232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🔁 İyileştirme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1518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B85"/>
                </a:solidFill>
                <a:latin typeface="Segoe UI"/>
              </a:rPr>
              <a:t>Her özellik; fikirden koda, otomatik testlere ve dürüst ölçüme kadar aynı döngüden geçer.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00400"/>
            <a:ext cx="3593592" cy="2743200"/>
          </a:xfrm>
          <a:prstGeom prst="roundRect">
            <a:avLst>
              <a:gd name="adj" fmla="val 9000"/>
            </a:avLst>
          </a:prstGeom>
          <a:solidFill>
            <a:srgbClr val="F2F9F3"/>
          </a:solidFill>
          <a:ln w="19050">
            <a:solidFill>
              <a:srgbClr val="97C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00400"/>
            <a:ext cx="3593592" cy="128016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456432"/>
            <a:ext cx="3209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233"/>
                </a:solidFill>
                <a:latin typeface="Segoe UI Semibold"/>
              </a:rPr>
              <a:t>🔓  </a:t>
            </a:r>
            <a:r>
              <a:rPr sz="1500" b="1">
                <a:solidFill>
                  <a:srgbClr val="1A2233"/>
                </a:solidFill>
                <a:latin typeface="Segoe UI Semibold"/>
              </a:rPr>
              <a:t>Açık ve İzlenebilir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86784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F9E44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Ortak GitHub deposu (Apache 2.0)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F9E44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Her karar kayıt altında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F9E44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Tüm dokümantasyon Türkçe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200400"/>
            <a:ext cx="3593592" cy="2743200"/>
          </a:xfrm>
          <a:prstGeom prst="roundRect">
            <a:avLst>
              <a:gd name="adj" fmla="val 9000"/>
            </a:avLst>
          </a:prstGeom>
          <a:solidFill>
            <a:srgbClr val="F1F6FB"/>
          </a:solidFill>
          <a:ln w="19050">
            <a:solidFill>
              <a:srgbClr val="8DB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8536" y="3200400"/>
            <a:ext cx="3593592" cy="128016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456432"/>
            <a:ext cx="3209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233"/>
                </a:solidFill>
                <a:latin typeface="Segoe UI Semibold"/>
              </a:rPr>
              <a:t>🔄  </a:t>
            </a:r>
            <a:r>
              <a:rPr sz="1500" b="1">
                <a:solidFill>
                  <a:srgbClr val="1A2233"/>
                </a:solidFill>
                <a:latin typeface="Segoe UI Semibold"/>
              </a:rPr>
              <a:t>Sürekli Entegrasyon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986784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6FC2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En az haftalık commit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6FC2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500+ otomatik test yeşil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6FC2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Her katkı gözden geçirilir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3200400"/>
            <a:ext cx="3593592" cy="2743200"/>
          </a:xfrm>
          <a:prstGeom prst="roundRect">
            <a:avLst>
              <a:gd name="adj" fmla="val 9000"/>
            </a:avLst>
          </a:prstGeom>
          <a:solidFill>
            <a:srgbClr val="FBF0F2"/>
          </a:solidFill>
          <a:ln w="19050">
            <a:solidFill>
              <a:srgbClr val="E38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0144" y="3200400"/>
            <a:ext cx="3593592" cy="1280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3456432"/>
            <a:ext cx="32095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233"/>
                </a:solidFill>
                <a:latin typeface="Segoe UI Semibold"/>
              </a:rPr>
              <a:t>🎯  </a:t>
            </a:r>
            <a:r>
              <a:rPr sz="1500" b="1">
                <a:solidFill>
                  <a:srgbClr val="1A2233"/>
                </a:solidFill>
                <a:latin typeface="Segoe UI Semibold"/>
              </a:rPr>
              <a:t>Dürüst Ölçüm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986784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Düzenli değerlendirme ölçümü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Tutulmuş (held-out) setler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Sonuçlar olduğu gibi raporlanır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KISA PROJE TANITIMI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Ne Geliştiriyoruz?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55096" cy="1060704"/>
          </a:xfrm>
          <a:prstGeom prst="roundRect">
            <a:avLst>
              <a:gd name="adj" fmla="val 6000"/>
            </a:avLst>
          </a:prstGeom>
          <a:solidFill>
            <a:srgbClr val="FCF3F4"/>
          </a:solidFill>
          <a:ln w="19050">
            <a:solidFill>
              <a:srgbClr val="E99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91440" cy="10607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8249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A2233"/>
                </a:solidFill>
                <a:latin typeface="Segoe UI"/>
              </a:rPr>
              <a:t>Kamu kurumlarına gelen evrağı </a:t>
            </a:r>
            <a:r>
              <a:rPr sz="1550" b="1">
                <a:solidFill>
                  <a:srgbClr val="1A2233"/>
                </a:solidFill>
                <a:latin typeface="Segoe UI Semibold"/>
              </a:rPr>
              <a:t>okuyan · anlayan · eksiğini bulan · mevzuat öneren · taslaklayan · yönlendiren</a:t>
            </a:r>
            <a:r>
              <a:rPr sz="1550" b="0">
                <a:solidFill>
                  <a:srgbClr val="1A2233"/>
                </a:solidFill>
                <a:latin typeface="Segoe UI"/>
              </a:rPr>
              <a:t> çok ajanlı bir yapay zekâ sistemi.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50" b="0">
                <a:solidFill>
                  <a:srgbClr val="6B4A50"/>
                </a:solidFill>
                <a:latin typeface="Segoe UI"/>
              </a:rPr>
              <a:t>11 uzman ajan + orkestratör · framework bağımsız saf Python · çevrimdışı-öncelikli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07792"/>
            <a:ext cx="1976932" cy="694944"/>
          </a:xfrm>
          <a:prstGeom prst="roundRect">
            <a:avLst>
              <a:gd name="adj" fmla="val 16000"/>
            </a:avLst>
          </a:prstGeom>
          <a:solidFill>
            <a:srgbClr val="41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📥 Girdi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2148" y="3118104"/>
            <a:ext cx="23774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6468" y="2907792"/>
            <a:ext cx="1976932" cy="694944"/>
          </a:xfrm>
          <a:prstGeom prst="roundRect">
            <a:avLst>
              <a:gd name="adj" fmla="val 16000"/>
            </a:avLst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🧠 Orkestratör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31689" y="3118104"/>
            <a:ext cx="23774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6009" y="2907792"/>
            <a:ext cx="1976932" cy="694944"/>
          </a:xfrm>
          <a:prstGeom prst="roundRect">
            <a:avLst>
              <a:gd name="adj" fmla="val 16000"/>
            </a:avLst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📋 Görev 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01230" y="3118104"/>
            <a:ext cx="23774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5550" y="2907792"/>
            <a:ext cx="1976932" cy="694944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✍️ Görev 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0771" y="3118104"/>
            <a:ext cx="23774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7C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5091" y="2907792"/>
            <a:ext cx="1976932" cy="694944"/>
          </a:xfrm>
          <a:prstGeom prst="roundRect">
            <a:avLst>
              <a:gd name="adj" fmla="val 16000"/>
            </a:avLst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📤 12+ Çıktı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77056"/>
            <a:ext cx="5440680" cy="1920240"/>
          </a:xfrm>
          <a:prstGeom prst="roundRect">
            <a:avLst>
              <a:gd name="adj" fmla="val 9000"/>
            </a:avLst>
          </a:prstGeom>
          <a:solidFill>
            <a:srgbClr val="F1F6FB"/>
          </a:solidFill>
          <a:ln w="19050">
            <a:solidFill>
              <a:srgbClr val="8DB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5440680" cy="128016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133088"/>
            <a:ext cx="5056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233"/>
                </a:solidFill>
                <a:latin typeface="Segoe UI Semibold"/>
              </a:rPr>
              <a:t>📋  </a:t>
            </a:r>
            <a:r>
              <a:rPr sz="1500" b="1">
                <a:solidFill>
                  <a:srgbClr val="1A2233"/>
                </a:solidFill>
                <a:latin typeface="Segoe UI Semibold"/>
              </a:rPr>
              <a:t>Görev 1 — Sınıflandırma &amp; İçerik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663440"/>
            <a:ext cx="50017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6FC2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Metin/PDF/görüntü okuma (OCR) + tür belirleme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6FC2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Bilgi çıkarımı · eksik bilgi tespiti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6FC2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Mevzuat önerisi · kısa özet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877056"/>
            <a:ext cx="5440680" cy="1920240"/>
          </a:xfrm>
          <a:prstGeom prst="roundRect">
            <a:avLst>
              <a:gd name="adj" fmla="val 9000"/>
            </a:avLst>
          </a:prstGeom>
          <a:solidFill>
            <a:srgbClr val="FDF5F0"/>
          </a:solidFill>
          <a:ln w="19050">
            <a:solidFill>
              <a:srgbClr val="F3A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3877056"/>
            <a:ext cx="5440680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133088"/>
            <a:ext cx="5056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233"/>
                </a:solidFill>
                <a:latin typeface="Segoe UI Semibold"/>
              </a:rPr>
              <a:t>✍️  </a:t>
            </a:r>
            <a:r>
              <a:rPr sz="1500" b="1">
                <a:solidFill>
                  <a:srgbClr val="1A2233"/>
                </a:solidFill>
                <a:latin typeface="Segoe UI Semibold"/>
              </a:rPr>
              <a:t>Görev 2 — Taslaklama &amp; Yönlendirme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663440"/>
            <a:ext cx="50017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8590C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Resmî yazı taslağı (Yönetmelik uyumlu)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8590C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Gerekçeli birim yönlendirme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E8590C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A2233"/>
                </a:solidFill>
                <a:latin typeface="Segoe UI"/>
              </a:rPr>
              <a:t>Kullanıcı bilgilendirme · eksik bilgi talebi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618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85"/>
                </a:solidFill>
                <a:latin typeface="Segoe UI"/>
              </a:rPr>
              <a:t>Ayrıntılı teknik mimari, kod ve canlı demo final aşamasında sunulacaktır.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KANITIMIZ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Bugüne Kadar Ne Ürettik?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2715768" cy="1417320"/>
          </a:xfrm>
          <a:prstGeom prst="roundRect">
            <a:avLst>
              <a:gd name="adj" fmla="val 10000"/>
            </a:avLst>
          </a:prstGeom>
          <a:solidFill>
            <a:srgbClr val="F0F8F1"/>
          </a:solidFill>
          <a:ln w="19050">
            <a:solidFill>
              <a:srgbClr val="A1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55648"/>
            <a:ext cx="91440" cy="116128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48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F9E44"/>
                </a:solidFill>
                <a:latin typeface="Segoe UI Semibold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350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Çalışan sistem · CLI + web arayüzü +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627632"/>
            <a:ext cx="2715768" cy="1417320"/>
          </a:xfrm>
          <a:prstGeom prst="roundRect">
            <a:avLst>
              <a:gd name="adj" fmla="val 10000"/>
            </a:avLst>
          </a:prstGeom>
          <a:solidFill>
            <a:srgbClr val="EFF4FA"/>
          </a:solidFill>
          <a:ln w="19050">
            <a:solidFill>
              <a:srgbClr val="98B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2424" y="1755648"/>
            <a:ext cx="91440" cy="1161288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755648"/>
            <a:ext cx="24048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B6FC2"/>
                </a:solidFill>
                <a:latin typeface="Segoe UI Semibold"/>
              </a:rPr>
              <a:t>500</a:t>
            </a:r>
            <a:r>
              <a:rPr sz="1600" b="1">
                <a:solidFill>
                  <a:srgbClr val="1B6FC2"/>
                </a:solidFill>
                <a:latin typeface="Segoe UI Semibold"/>
              </a:rPr>
              <a:t>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331720"/>
            <a:ext cx="2350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Test — sürekli entegrasyonda yeşil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27632"/>
            <a:ext cx="2715768" cy="1417320"/>
          </a:xfrm>
          <a:prstGeom prst="roundRect">
            <a:avLst>
              <a:gd name="adj" fmla="val 10000"/>
            </a:avLst>
          </a:prstGeom>
          <a:solidFill>
            <a:srgbClr val="FDF3ED"/>
          </a:solidFill>
          <a:ln w="19050">
            <a:solidFill>
              <a:srgbClr val="F4B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55648"/>
            <a:ext cx="91440" cy="11612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755648"/>
            <a:ext cx="24048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590C"/>
                </a:solidFill>
                <a:latin typeface="Segoe UI Semibold"/>
              </a:rPr>
              <a:t>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331720"/>
            <a:ext cx="2350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Etiketli sentetik kurgu evrak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627632"/>
            <a:ext cx="2715768" cy="1417320"/>
          </a:xfrm>
          <a:prstGeom prst="roundRect">
            <a:avLst>
              <a:gd name="adj" fmla="val 10000"/>
            </a:avLst>
          </a:prstGeom>
          <a:solidFill>
            <a:srgbClr val="FBEEF0"/>
          </a:solidFill>
          <a:ln w="19050">
            <a:solidFill>
              <a:srgbClr val="E6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3416" y="1755648"/>
            <a:ext cx="91440" cy="11612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755648"/>
            <a:ext cx="24048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C8102E"/>
                </a:solidFill>
                <a:latin typeface="Segoe UI Semibold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331720"/>
            <a:ext cx="2350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2233"/>
                </a:solidFill>
                <a:latin typeface="Segoe UI"/>
              </a:rPr>
              <a:t>KVKK sızıntısı (bağımsız denetim)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73552"/>
            <a:ext cx="5440680" cy="1975104"/>
          </a:xfrm>
          <a:prstGeom prst="roundRect">
            <a:avLst>
              <a:gd name="adj" fmla="val 6000"/>
            </a:avLst>
          </a:prstGeom>
          <a:solidFill>
            <a:srgbClr val="F3F7FB"/>
          </a:solidFill>
          <a:ln w="19050">
            <a:solidFill>
              <a:srgbClr val="8DB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273552"/>
            <a:ext cx="5440680" cy="118872"/>
          </a:xfrm>
          <a:prstGeom prst="rect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5056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3"/>
                </a:solidFill>
                <a:latin typeface="Segoe UI Semibold"/>
              </a:rPr>
              <a:t>Geliştirme seti · 52 evrak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950208"/>
            <a:ext cx="50200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Sınıflandırma doğruluğu   </a:t>
            </a:r>
            <a:r>
              <a:rPr sz="1300" b="1">
                <a:solidFill>
                  <a:srgbClr val="1B6FC2"/>
                </a:solidFill>
                <a:latin typeface="Segoe UI Semibold"/>
              </a:rPr>
              <a:t>1,00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Birim yönlendirme   </a:t>
            </a:r>
            <a:r>
              <a:rPr sz="1300" b="1">
                <a:solidFill>
                  <a:srgbClr val="1B6FC2"/>
                </a:solidFill>
                <a:latin typeface="Segoe UI Semibold"/>
              </a:rPr>
              <a:t>0,96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Eksik-bilgi tespiti (F1)   </a:t>
            </a:r>
            <a:r>
              <a:rPr sz="1300" b="1">
                <a:solidFill>
                  <a:srgbClr val="1B6FC2"/>
                </a:solidFill>
                <a:latin typeface="Segoe UI Semibold"/>
              </a:rPr>
              <a:t>1,00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Mevzuat isabet@3   </a:t>
            </a:r>
            <a:r>
              <a:rPr sz="1300" b="1">
                <a:solidFill>
                  <a:srgbClr val="1B6FC2"/>
                </a:solidFill>
                <a:latin typeface="Segoe UI Semibold"/>
              </a:rPr>
              <a:t>0,96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273552"/>
            <a:ext cx="5440680" cy="1975104"/>
          </a:xfrm>
          <a:prstGeom prst="roundRect">
            <a:avLst>
              <a:gd name="adj" fmla="val 6000"/>
            </a:avLst>
          </a:prstGeom>
          <a:solidFill>
            <a:srgbClr val="FDF6F2"/>
          </a:solidFill>
          <a:ln w="19050">
            <a:solidFill>
              <a:srgbClr val="F3A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3273552"/>
            <a:ext cx="5440680" cy="11887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3474720"/>
            <a:ext cx="5056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3"/>
                </a:solidFill>
                <a:latin typeface="Segoe UI Semibold"/>
              </a:rPr>
              <a:t>Adversarial tutulmuş set · 16 evrak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3950208"/>
            <a:ext cx="50200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Sınıflandırma doğruluğu   </a:t>
            </a:r>
            <a:r>
              <a:rPr sz="1300" b="1">
                <a:solidFill>
                  <a:srgbClr val="E8590C"/>
                </a:solidFill>
                <a:latin typeface="Segoe UI Semibold"/>
              </a:rPr>
              <a:t>0,94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Birim yönlendirme   </a:t>
            </a:r>
            <a:r>
              <a:rPr sz="1300" b="1">
                <a:solidFill>
                  <a:srgbClr val="E8590C"/>
                </a:solidFill>
                <a:latin typeface="Segoe UI Semibold"/>
              </a:rPr>
              <a:t>1,00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Eksik-bilgi tespiti (F1)   </a:t>
            </a:r>
            <a:r>
              <a:rPr sz="1300" b="1">
                <a:solidFill>
                  <a:srgbClr val="E8590C"/>
                </a:solidFill>
                <a:latin typeface="Segoe UI Semibold"/>
              </a:rPr>
              <a:t>0,83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Segoe UI"/>
              </a:rPr>
              <a:t>Mevzuat isabet@3   </a:t>
            </a:r>
            <a:r>
              <a:rPr sz="1300" b="1">
                <a:solidFill>
                  <a:srgbClr val="E8590C"/>
                </a:solidFill>
                <a:latin typeface="Segoe UI Semibold"/>
              </a:rPr>
              <a:t>0,94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3949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B85"/>
                </a:solidFill>
                <a:latin typeface="Segoe UI Semibold"/>
              </a:rPr>
              <a:t>Kaynak: </a:t>
            </a:r>
            <a:r>
              <a:rPr sz="1150" b="0">
                <a:solidFill>
                  <a:srgbClr val="1A2233"/>
                </a:solidFill>
                <a:latin typeface="Consolas"/>
              </a:rPr>
              <a:t>eval_report*.json</a:t>
            </a:r>
            <a:r>
              <a:rPr sz="1150" b="0">
                <a:solidFill>
                  <a:srgbClr val="5B6B85"/>
                </a:solidFill>
                <a:latin typeface="Segoe UI"/>
              </a:rPr>
              <a:t>  ·  tamamen çevrimdışı mod  ·  sonuçlar olduğu gibi raporlanır  ·  Apache 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8102E"/>
                </a:solidFill>
                <a:latin typeface="Segoe UI Semibold"/>
              </a:rPr>
              <a:t>NEDEN BURADAYIZ?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115568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A2233"/>
                </a:solidFill>
                <a:latin typeface="Segoe UI Semibold"/>
              </a:rPr>
              <a:t>Katılım Motivasyonumuz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353312"/>
            <a:ext cx="96012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09344"/>
            <a:ext cx="3566160" cy="1901952"/>
          </a:xfrm>
          <a:prstGeom prst="roundRect">
            <a:avLst>
              <a:gd name="adj" fmla="val 8000"/>
            </a:avLst>
          </a:prstGeom>
          <a:solidFill>
            <a:srgbClr val="F1F6FB"/>
          </a:solidFill>
          <a:ln w="19050">
            <a:solidFill>
              <a:srgbClr val="8DB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865376"/>
            <a:ext cx="658368" cy="658368"/>
          </a:xfrm>
          <a:prstGeom prst="ellipse">
            <a:avLst/>
          </a:prstGeom>
          <a:solidFill>
            <a:srgbClr val="CC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2233"/>
                </a:solidFill>
                <a:latin typeface="Segoe UI"/>
              </a:rPr>
              <a:t>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1056" y="1938528"/>
            <a:ext cx="2377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Ölçülebilir verimlilik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70048"/>
            <a:ext cx="3072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İlk inceleme, taslak ve yönlendirme adımlarında personel zamanı kazanımı.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609344"/>
            <a:ext cx="3566160" cy="1901952"/>
          </a:xfrm>
          <a:prstGeom prst="roundRect">
            <a:avLst>
              <a:gd name="adj" fmla="val 8000"/>
            </a:avLst>
          </a:prstGeom>
          <a:solidFill>
            <a:srgbClr val="FBF0F2"/>
          </a:solidFill>
          <a:ln w="19050">
            <a:solidFill>
              <a:srgbClr val="E38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98848" y="1865376"/>
            <a:ext cx="658368" cy="658368"/>
          </a:xfrm>
          <a:prstGeom prst="ellipse">
            <a:avLst/>
          </a:prstGeom>
          <a:solidFill>
            <a:srgbClr val="F2C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2233"/>
                </a:solidFill>
                <a:latin typeface="Segoe UI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1938528"/>
            <a:ext cx="2377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Veri egemenliği &amp; KVKK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670048"/>
            <a:ext cx="3072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Kişisel veriyi 3. taraf API'ye sızdırmadan, tamamen yerel çalışan yerli çözüm.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09344"/>
            <a:ext cx="3566160" cy="1901952"/>
          </a:xfrm>
          <a:prstGeom prst="roundRect">
            <a:avLst>
              <a:gd name="adj" fmla="val 8000"/>
            </a:avLst>
          </a:prstGeom>
          <a:solidFill>
            <a:srgbClr val="F2F9F3"/>
          </a:solidFill>
          <a:ln w="19050">
            <a:solidFill>
              <a:srgbClr val="97CE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93023" y="1865376"/>
            <a:ext cx="658368" cy="658368"/>
          </a:xfrm>
          <a:prstGeom prst="ellipse">
            <a:avLst/>
          </a:prstGeom>
          <a:solidFill>
            <a:srgbClr val="D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2233"/>
                </a:solidFill>
                <a:latin typeface="Segoe UI"/>
              </a:rPr>
              <a:t>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1938528"/>
            <a:ext cx="2377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Açık kaynak katkısı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70048"/>
            <a:ext cx="3072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Türkçe dil teknolojileri ekosistemine (TAKP) Apache 2.0 lisanslı katkı.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75887"/>
            <a:ext cx="3566160" cy="1901952"/>
          </a:xfrm>
          <a:prstGeom prst="roundRect">
            <a:avLst>
              <a:gd name="adj" fmla="val 8000"/>
            </a:avLst>
          </a:prstGeom>
          <a:solidFill>
            <a:srgbClr val="F6F3FC"/>
          </a:solidFill>
          <a:ln w="19050">
            <a:solidFill>
              <a:srgbClr val="B59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3931920"/>
            <a:ext cx="658368" cy="658368"/>
          </a:xfrm>
          <a:prstGeom prst="ellipse">
            <a:avLst/>
          </a:prstGeom>
          <a:solidFill>
            <a:srgbClr val="DED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2233"/>
                </a:solidFill>
                <a:latin typeface="Segoe UI"/>
              </a:rPr>
              <a:t>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4005072"/>
            <a:ext cx="2377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Sorumlu otomasyon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736592"/>
            <a:ext cx="3072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Emin olmadığı kararda durup insana devreden, gerekçeli ve denetlenebilir tasarım.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3675887"/>
            <a:ext cx="3566160" cy="1901952"/>
          </a:xfrm>
          <a:prstGeom prst="roundRect">
            <a:avLst>
              <a:gd name="adj" fmla="val 8000"/>
            </a:avLst>
          </a:prstGeom>
          <a:solidFill>
            <a:srgbClr val="FDF5F0"/>
          </a:solidFill>
          <a:ln w="19050">
            <a:solidFill>
              <a:srgbClr val="F3A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98848" y="3931920"/>
            <a:ext cx="658368" cy="658368"/>
          </a:xfrm>
          <a:prstGeom prst="ellipse">
            <a:avLst/>
          </a:prstGeom>
          <a:solidFill>
            <a:srgbClr val="F9D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2233"/>
                </a:solidFill>
                <a:latin typeface="Segoe UI"/>
              </a:rPr>
              <a:t>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4005072"/>
            <a:ext cx="2377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A2233"/>
                </a:solidFill>
                <a:latin typeface="Segoe UI Semibold"/>
              </a:rPr>
              <a:t>Takımın ilgisi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736592"/>
            <a:ext cx="30723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4405A"/>
                </a:solidFill>
                <a:latin typeface="Segoe UI"/>
              </a:rPr>
              <a:t>Türkçe NLP ve kamu süreçlerine dair merak ve ortak çalışma isteği.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675887"/>
            <a:ext cx="3566160" cy="1901952"/>
          </a:xfrm>
          <a:prstGeom prst="roundRect">
            <a:avLst>
              <a:gd name="adj" fmla="val 8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3877056"/>
            <a:ext cx="312724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F1B434"/>
                </a:solidFill>
                <a:latin typeface="Segoe UI Semibold"/>
              </a:rPr>
              <a:t>Kamuya uygun yapay zekâ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D8E2F3"/>
                </a:solidFill>
                <a:latin typeface="Segoe UI"/>
              </a:rPr>
              <a:t>“Her şeyi otomatikleştiren” değil; </a:t>
            </a:r>
            <a:r>
              <a:rPr sz="1300" b="1">
                <a:solidFill>
                  <a:srgbClr val="FFFFFF"/>
                </a:solidFill>
                <a:latin typeface="Segoe UI Semibold"/>
              </a:rPr>
              <a:t>doğru yerde insana devreden</a:t>
            </a:r>
            <a:r>
              <a:rPr sz="1300" b="0">
                <a:solidFill>
                  <a:srgbClr val="D8E2F3"/>
                </a:solidFill>
                <a:latin typeface="Segoe UI"/>
              </a:rPr>
              <a:t> bir sistem güven verir.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37376"/>
            <a:ext cx="11064240" cy="14630"/>
          </a:xfrm>
          <a:prstGeom prst="rect">
            <a:avLst/>
          </a:prstGeom>
          <a:solidFill>
            <a:srgbClr val="DC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9224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AGENTRA TECH  ·  TEKNOFEST 2026 · Yapay Zeka Dil Ajanları Yarışması · 1. Senaryo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9224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149840" y="868680"/>
            <a:ext cx="1188720" cy="41148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149840" y="868680"/>
            <a:ext cx="548640" cy="123444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149840" y="868680"/>
            <a:ext cx="1371600" cy="169164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698480" y="1280160"/>
            <a:ext cx="640080" cy="82296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338560" y="1280160"/>
            <a:ext cx="182880" cy="128016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98480" y="2103120"/>
            <a:ext cx="822960" cy="457200"/>
          </a:xfrm>
          <a:prstGeom prst="line">
            <a:avLst/>
          </a:prstGeom>
          <a:ln w="9525">
            <a:solidFill>
              <a:srgbClr val="2A3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58400" y="777240"/>
            <a:ext cx="182880" cy="182880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0" y="1188720"/>
            <a:ext cx="182880" cy="182880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0" y="2011680"/>
            <a:ext cx="182880" cy="182880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0" y="2468880"/>
            <a:ext cx="182880" cy="182880"/>
          </a:xfrm>
          <a:prstGeom prst="ellipse">
            <a:avLst/>
          </a:prstGeom>
          <a:solidFill>
            <a:srgbClr val="35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C8102E"/>
                </a:solidFill>
                <a:latin typeface="Segoe UI Semibold"/>
              </a:rPr>
              <a:t>TEŞEKKÜRLER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335024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Segoe UI Semibold"/>
              </a:rPr>
              <a:t>AGENTRA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323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D8E2F3"/>
                </a:solidFill>
                <a:latin typeface="Segoe UI"/>
              </a:rPr>
              <a:t>Organizasyon yapısı, ekip ve görev dağılımıyla; kamuya uygun bir yapay zekâ takımı.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46120"/>
            <a:ext cx="2688336" cy="566928"/>
          </a:xfrm>
          <a:prstGeom prst="roundRect">
            <a:avLst>
              <a:gd name="adj" fmla="val 3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3392424"/>
            <a:ext cx="274320" cy="274320"/>
          </a:xfrm>
          <a:prstGeom prst="ellipse">
            <a:avLst/>
          </a:prstGeom>
          <a:solidFill>
            <a:srgbClr val="1B6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3328416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Şeyma Nur Çebi</a:t>
            </a:r>
            <a:r>
              <a:rPr sz="1100" b="0">
                <a:solidFill>
                  <a:srgbClr val="9FB4D8"/>
                </a:solidFill>
                <a:latin typeface="Segoe UI"/>
              </a:rPr>
              <a:t>  · Kaptan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12464" y="3246120"/>
            <a:ext cx="2510028" cy="566928"/>
          </a:xfrm>
          <a:prstGeom prst="roundRect">
            <a:avLst>
              <a:gd name="adj" fmla="val 3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77056" y="3392424"/>
            <a:ext cx="274320" cy="274320"/>
          </a:xfrm>
          <a:prstGeom prst="ellipse">
            <a:avLst/>
          </a:prstGeom>
          <a:solidFill>
            <a:srgbClr val="6C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2816" y="3328416"/>
            <a:ext cx="19796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Muhammed Sina Gün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3660" y="3246120"/>
            <a:ext cx="1709928" cy="566928"/>
          </a:xfrm>
          <a:prstGeom prst="roundRect">
            <a:avLst>
              <a:gd name="adj" fmla="val 3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8252" y="3392424"/>
            <a:ext cx="274320" cy="27432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4012" y="3328416"/>
            <a:ext cx="11795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Emine Elik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4756" y="3246120"/>
            <a:ext cx="1824228" cy="566928"/>
          </a:xfrm>
          <a:prstGeom prst="roundRect">
            <a:avLst>
              <a:gd name="adj" fmla="val 3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99348" y="3392424"/>
            <a:ext cx="274320" cy="274320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5108" y="3328416"/>
            <a:ext cx="12938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Zeynep Akel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206240"/>
            <a:ext cx="8778240" cy="731520"/>
          </a:xfrm>
          <a:prstGeom prst="roundRect">
            <a:avLst>
              <a:gd name="adj" fmla="val 10000"/>
            </a:avLst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370832"/>
            <a:ext cx="8412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9FB4D8"/>
                </a:solidFill>
                <a:latin typeface="Segoe UI Semibold"/>
              </a:rPr>
              <a:t>Depo:  </a:t>
            </a:r>
            <a:r>
              <a:rPr sz="1400" b="0">
                <a:solidFill>
                  <a:srgbClr val="FFFFFF"/>
                </a:solidFill>
                <a:latin typeface="Consolas"/>
              </a:rPr>
              <a:t>github.com/msgxr/teknofest-2026-kamu-evrak-akilli-ajan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C7D5EC"/>
                </a:solidFill>
                <a:latin typeface="Segoe UI"/>
              </a:rPr>
              <a:t>Kamuya uygun, dürüst, açık kaynak ve </a:t>
            </a:r>
            <a:r>
              <a:rPr sz="1550" b="1">
                <a:solidFill>
                  <a:srgbClr val="FFFFFF"/>
                </a:solidFill>
                <a:latin typeface="Segoe UI Semibold"/>
              </a:rPr>
              <a:t>bugün çalışan</a:t>
            </a:r>
            <a:r>
              <a:rPr sz="1550" b="0">
                <a:solidFill>
                  <a:srgbClr val="C7D5EC"/>
                </a:solidFill>
                <a:latin typeface="Segoe UI"/>
              </a:rPr>
              <a:t> bir sistem geliştiren bir takımız.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AGENTRA TECH — Takım Tanıtım Sunumu (TEKNOFEST 2026 TYDA · 1. Senaryo)</dc:title>
  <dc:subject/>
  <dc:creator>AGENTRA TECH</dc:creator>
  <cp:keywords/>
  <dc:description>generated using python-pptx</dc:description>
  <cp:lastModifiedBy>AGENTRA TECH</cp:lastModifiedBy>
  <cp:revision>1</cp:revision>
  <dcterms:created xsi:type="dcterms:W3CDTF">2013-01-27T09:14:16Z</dcterms:created>
  <dcterms:modified xsi:type="dcterms:W3CDTF">2013-01-27T09:15:58Z</dcterms:modified>
  <cp:category/>
</cp:coreProperties>
</file>